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9523" autoAdjust="0"/>
  </p:normalViewPr>
  <p:slideViewPr>
    <p:cSldViewPr snapToGrid="0" snapToObjects="1" showGuides="1">
      <p:cViewPr varScale="1">
        <p:scale>
          <a:sx n="74" d="100"/>
          <a:sy n="74" d="100"/>
        </p:scale>
        <p:origin x="376" y="44"/>
      </p:cViewPr>
      <p:guideLst>
        <p:guide orient="horz" pos="2160"/>
        <p:guide pos="2880"/>
      </p:guideLst>
    </p:cSldViewPr>
  </p:slideViewPr>
  <p:outlineViewPr>
    <p:cViewPr>
      <p:scale>
        <a:sx n="33" d="100"/>
        <a:sy n="33" d="100"/>
      </p:scale>
      <p:origin x="0" y="-110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7/26/2026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Good morning everyone, and welcome. Over the next two sessions we're going to build something I'm genuinely excited about: DataPilot, an MCP-native SQL and data-quality agent for analytics teams. In plain terms, this is a chat app where anyone on your team can ask a business question in plain English, like 'what were our top five product categories by revenue', and get back a real answer, a table, and a chart, straight from the database. No waiting on an engineer, no brittle one-off scripts. The two words that make this special are 'MCP-native'. By the end of today you'll know exactly what MCP is and why it's the most important shift in how we wire tools into AI systems right now. This is hands-on: you will write the code, run it, and see it work on your own laptop. Let's get started.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rPr dirty="0"/>
              <a:t>Let me set the scene with the problem we're solving. Today, in most companies, analysts wait on data engineers for every new question. The LLM-powered SQL bots people have tried are brittle, they hallucinate columns and numbers. They have no awareness of data quality, so they'll happily report on stale or broken data. And the tools people build don't compose, every integration is bespoke glue code. So here's what you'll walk out : a working chat-over-data agent, plus three MCP servers, two of which you will author yourself, and the exact same servers plugged into a second, completely different product. We build production hygiene in from minute one: a read-only guardrail, a SQL </a:t>
            </a:r>
            <a:r>
              <a:rPr dirty="0" err="1"/>
              <a:t>sanitiser</a:t>
            </a:r>
            <a:r>
              <a:rPr dirty="0"/>
              <a:t>, an automatic row limit, and an end-to-end smoke test. And the reason we use MCP instead of glue code is simple: you write a tool once, and every MCP-aware agent, </a:t>
            </a:r>
            <a:r>
              <a:rPr dirty="0" err="1"/>
              <a:t>Streamlit</a:t>
            </a:r>
            <a:r>
              <a:rPr dirty="0"/>
              <a:t>, Claude Desktop, Cursor, your future copilot, gets it for free. That reuse is the whole point.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This is the one architecture diagram I want you to hold in your head for the whole workshop. At the top is the Streamlit UI: the chat box, the sidebar, and the charts. That talks to the ChatAgent, which is a LangGraph ReAct agent with memory and a guardrail wrapper around it. Now here's the key part: the agent does not contain any tools itself. It talks over a protocol called MCP, that's JSON-RPC over standard input-output, to three separate server processes. The first, shopflow-sqlite, is off-the-shelf, six tools, we didn't write it. The second, datapilot-dq, is our own, four data-quality tools. The third, datapilot-rag, is also ours, two semantic-search tools. Those servers sit on top of a SQLite database and a ChromaDB vector store. And on the far right, notice the same two in-house servers also plug straight into Claude Desktop, with zero code changes. Everything we do today is a piece of this picture.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Quick tour of the tech stack, and why each choice. For the agent runtime we use LangGraph's create_react_agent with an in-memory saver for conversation memory, that's the modern replacement for the old AgentExecutor. The tool protocol is MCP, spoken over standard input-output. For authoring our own tools we use FastMCP, which is just Python decorators. The language model is Groq running an open gpt-oss-20b model, it's free, fast, and pluggable, you can swap it in one line. The UI is Streamlit plus Plotly. The data is a synthetic e-commerce company called ShopFlow, eight hundred customers and four thousand orders, plus a ChromaDB index over seven short docs. And we ship with tests: seventeen pytest cases plus an end-to-end smoke script. Nothing here is exotic; every piece is something you can reuse in a real project on Monday.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Here's how the delivery is structured: eleven modules across two ninety-minute sessions. Phase one, today, is modules zero through five: setup, wiring up MCP, the chat agent, guardrails, charts, and a configuration tour. Phase two, tomorrow, is modules six through ten: a recap, then building your own data-quality server, a health snapshot, a RAG server, and finally Claude Desktop. At each step we have validation gates: pytest has to stay green, the smoke test has to pass, and we do a browser walkthrough. One ground rule for the room: this is pair-and-share. If your neighbour is stuck, you're stuck, we move as one room. Please don't race ahead silently; if something breaks, raise your hand, because the fix is almost always something the whole room benefits from hearing.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Alright, that's the overview. We're now entering Phase one, the foundation. Over the next ninety minutes we build the agent itself: we'll get everyone to a running app, wire in a real MCP server, add the reasoning loop and memory, lock it down with guardrails, add automatic charts, and finish by understanding the configuration seam. By the end of this phase you'll have a working, safe, chat-over-data agent talking to one real tool server. Let's build.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zero is setup, and the goal is simple: every single laptop reaches a runnable Streamlit shell before we go further. The concepts here matter for real work too. A reproducible environment means a virtual environment, pinned requirements, and a dot-env file for secrets like your API key, never hard-code secrets. Our synthetic ShopFlow data uses a fixed random seed, which means everyone's database is byte-for-byte identical, so when I say the answer is eight hundred customers, it's eight hundred for all of you. The files involved are run dot p-s-1, requirements dot t-x-t, your dot-env, and the build-shopflow script that generates the database. The check for this module: running dot-backslash-run dot p-s-1 opens localhost colon eight-five-zero-one and shows the day-zero page. One tip: always launch from the repo root, that avoids a common relative-path bug. Let's get everyone green before we move 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Before module one, a two-minute primer: what is MCP? MCP stands for Model Context Protocol. It is the standard that lets the same tool serve any agent. The mental model is on the slide: your agent, the LangGraph one, talks over standard input-output using JSON-RPC to an MCP server running as its own subprocess. Only two messages really matter. 'tools-slash-list', which means 'what can you do', and 'tools-slash-call', which means 'please do this with these arguments'. That's basically the whole protocol. The best analogy is USB-C for AI tools. Before USB-C every device had its own connector; now there's one standard and everything just plugs in. Same idea here: write a tool once, and every MCP-aware agent, Streamlit, Claude, Cursor, can use it. Servers run in their own process, so they can be written in any language, and the agent only ever speaks the protocol. Keep those two messages in mind; you're about to see them in action.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one: MCP wiring. The goal is to spawn an off-the-shelf MCP server and see its tools appear in our sidebar. The important thing to internalise here is that you write zero tool code. The server, mcp-server-sqlite, already exists, it's published by Anthropic, and we launch it. An MCP client, that's our code, starts that server as a subprocess and asks it 'what tools do you have'. Two files do this: mcp dot json, which declares the shopflow-sqlite server, and mcp-clients dot py, which loads the config, starts the servers, and flattens their tools for LangChain. The check: your sidebar shows shopflow-sqlite with six tools, list_tables, read_query, and so on. Notice two of those tools are write_query and create_table, dangerous ones. We'll deal with those in module three. For now, just seeing six tools appear proves the protocol works end to end.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Another quick primer, because this concept trips people up: what actually is an LLM tool call? Here's the flow. The user asks 'how many customers'. The model does not run any code. Instead it emits a little piece of JSON that says 'call the tool count_rows with the argument table equals customers'. Our Python then decides whether to run that, runs it, and gets back eight hundred. We hand eight hundred back to the model, and only then does the model write the final English answer. The key idea, and I can't stress this enough: the LLM does not execute your code. It just requests. Your Python is always in control of whether the request actually runs. That's precisely where our guardrails will live in module three. So the model is the brain that decides; your code is the hands that act, and the hands can always say no.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Last primer before we build the agent: the ReAct loop. ReAct is short for Reason plus Act, and it's the pattern that turns a language model into an agent. Look at the cycle: the model thinks, then it acts by issuing a tool call, then it observes the result, then it thinks again, and it keeps looping until it has enough information to answer. So for a question like 'top categories by revenue', it might first look at the schema, then write a SQL query, see the rows, and then answer. The wonderful thing is we don't write this loop by hand. LangGraph's create_react_agent implements the whole think-act-observe cycle for us. Our job is just to hand it a model and a set of tools. Keep this loop in mind, because when we open the 'steps' panel later, this is exactly what you'll see the agent doing.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Module two: the chat agent, with memory. This is where the app comes alive. The goal is an agent that picks its own tools and remembers previous turns. Three concepts. First, create_react_agent runs the think-act-observe loop for us, no manual loop. Second, an in-memory saver combined with a thread id gives us per-session memory, so a follow-up like 'and orders' knows we were just talking about counts. Third, the system prompt forces the agent to discover the schema before writing any SELECT, that keeps it grounded. Two files: llm dot py, a small factory that connects to Groq, and chat-agent dot py, the agent itself plus an ask entry point. The check is the money moment: ask 'how many customers', you get eight hundred; follow up with just 'and orders', and it answers four thousand. That second answer only works because of memory, and it's the thing that makes it feel like a real colleague rather than a search box.</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Now a primer that matters enormously for production: what is a guardrail? Think of it as two layers of defence between the language model and your database. Picture the agent emitting some SQL. Layer one is a tool whitelist: we simply never expose write_query, create_table, or drop to the agent, so it literally cannot pick them. Layer two wraps the read_query tool: before any query runs, our Python inspects it. If it's a DROP or a DELETE, or tries to smuggle in a second statement with a semicolon, we reject it outright. And if it's a legitimate SELECT that forgot a limit, we auto-inject LIMIT one thousand so a careless query can't dump the whole table. So 'drop table customers' gets blocked, while 'select star from orders' quietly gets a safety limit added. This is defence in depth: even if one layer failed, the other still protects you.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Module three: guardrails. The goal is to make the agent physically incapable of writing to or dropping anything. We implement the two layers from the primer. Layer one: filter the tool list through a whitelist, so write_query and create_table simply vanish from the agent's view, the sidebar count drops from six tools to three. Layer two: wrap read_query so it rejects any write or DDL keyword, rejects multi-statement queries, and auto-adds a limit. We back this with eleven unit tests in test_guardrails dot py that keep both layers honest, run pytest and watch them go green. The files are guardrails dot py plus a wire-in step inside chat-agent dot py. The check: type 'drop table customers' in the chat, and you'll see a GUARDRAIL BLOCK message, the agent politely refuses or retries with a safe query, and crucially, the database is completely untouched. This is the difference between a demo and something you'd actually let near real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four: charts. The goal is to automatically pick the right Plotly chart for any result table, without asking the model to do it. The trick, and this is a nice engineering lesson, is that we pattern-match on the shape of the dataframe, not on the wording of the question. The rules are simple: if there's a date column and a number, draw a line chart. If there are between two and twenty-five categories and a number, draw a bar chart. If it's a single scalar, or more than twenty-five categories, draw nothing and just show the table. That's it. The file is charts dot py with an auto_chart function, hooked into the Streamlit app after the agent returns rows. The check: ask 'top five categories by revenue' and a bar chart appears under the table. By deciding in code rather than asking the LLM, we get charts that are fast, free, and predictable.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five is a short but important configuration tour. There's no new code here; the goal is to understand the integration surface so well that pointing this at a real warehouse becomes a four-line change. The key insight: mcp dot json is THE seam. It uses environment-variable substitution, that dollar-brace SHOPFLOW_DB, which keeps secrets and paths out of git. The same Python code talks to SQLite today and could talk to Postgres tomorrow, only mcp dot json changes, not the agent, not the guardrail, not the charts. As a live demo you can add a second off-the-shelf server, like the fetch server, in one line, restart, and watch a second badge appear in the sidebar. The check: you can describe out loud the handful of lines you'd change to point at a Postgres warehouse. This is the payoff of MCP, capabilities plug in at one well-defined place.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pause and lock in Phase one. Here's our exit criteria. You should now have a Streamlit app with a ReAct agent, one MCP server wired in, a working guardrail, and automatic charts. Your eleven guardrail unit tests should be green. Your smoke test should cover schema discovery, follow-up memory, and a blocked attack. And the repo should be clean and demoable. If any of those isn't true for you, now is the moment to flag it, because in Phase two we build on top of this foundation, and we never pile new code on a broken base. Take a breath, make sure you're green, and we'll pick up with Phase two.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Welcome to Phase two: the platform. In Phase one you were a consumer, you used somebody else's MCP server. Now you become a producer: you're going to author two of your own in-house MCP servers. The first is a data-quality server, and the second is a semantic-search RAG server. This is where the real leverage shows up, because the servers you write here will run, unchanged, inside both our Streamlit app and Claude Desktop. Same tool, two products. Let's build our first server.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Module six is a deliberate recap, and I want to explain why it exists. Before we add any new scope, we re-launch the Phase one app and smoke-test four questions: a count, a follow-up to check memory, a chart, and a guardrail block. The principle here is a professional habit: always pin a stable baseline before you add features. If the smoke test fails, we fix Phase one first, we do not build new servers on top of broken old code, because then you can't tell which layer introduced the bug. There are no code changes in this module, it's run dot p-s-1 plus a quick browser smoke. Once all four questions pass, we've got a trusted baseline and we can move forward with confidence.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A primer to frame Phase two: consuming versus publishing MCP. In Phase one you were the client, your agent called someone else's server, mcp-server-sqlite. In Phase two you flip roles and become the server: any agent, yours, Claude, Cursor, can call the two servers you're about to publish, datapilot-dq and datapilot-rag. The beautiful thing is it's the same protocol on both sides of the line. So the two servers you build today get called by the Streamlit app AND by Claude Desktop, with no client code changes anywhere. That symmetry, the fact that publishing is just the other end of the same wire you already understand, is what makes MCP so powerful. You already know the protocol; now you're going to speak it from the other side.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more short primer, then we build: what is FastMCP? FastMCP is a decorator-based framework where a single at-sign turns an ordinary Python function into a fully discoverable MCP tool. Look at the code on the slide. You import FastMCP, create a server with a name, and then decorate a function with at-m-c-p dot tool. That decorator does two magical things: it uses your type hints and your docstring to automatically generate the tool's schema, the very description the language model reads when deciding whether to call it. So your docstring is not a comment, it's the user interface for the AI. Then m-c-p dot run starts a JSON-RPC server on standard input-output, and the client spawns it as a subprocess. That's the whole thing. Roughly ten lines of Python gives you one production-shaped MCP server. When you see how little code this is, the idea of building your own tools stops feeling scary.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seven is the star of the workshop: you author your own MCP server with four data-quality tools. Using FastMCP, about sixty lines of Python gives you a production-shaped server. A nice touch: our freshness tool auto-detects the timestamp column, so there's no hard-coded schema. The workflow I want you to follow is important: run the server standalone first as a plain Python process and confirm it boots, then plug it into mcp dot json. That way you isolate problems. Three files change: your new dq-server dot py, a second entry in mcp dot json for datapilot-dq, and the whitelist in chat-agent dot py where you add the four new tool names, otherwise the guardrail will hide them. The check: ask 'is the orders data fresh', and the agent calls your check_freshness tool and reports a status with an hours-ago figure. That moment, watching the agent reach for a tool you wrote, is the highlight of the day.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eight: the health snapshot, which is about being proactive with data quality. So far the DQ tools are reactive, the agent uses them when a user asks. Here we also use them at app load. The concept: the same MCP tools, two different consumers. The agent uses them reactively in chat, and a sidebar button uses them proactively. Why does this matter? Because it surfaces stale or broken data before an analyst asks a misleading question of it. The file is streamlit-app dot py, where we add a 'run quick checks' block in the sidebar. The check: the sidebar shows four red or green badges, row counts, freshness, and so on, on demand. The lesson to take away: once a capability is an MCP tool, you can consume it from many places in your product, not just the chat box.</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2588" y="685800"/>
            <a:ext cx="6092825" cy="3429000"/>
          </a:xfrm>
        </p:spPr>
      </p:sp>
      <p:sp>
        <p:nvSpPr>
          <p:cNvPr id="3" name="Notes Placeholder 2"/>
          <p:cNvSpPr>
            <a:spLocks noGrp="1"/>
          </p:cNvSpPr>
          <p:nvPr>
            <p:ph type="body" sz="quarter" idx="3"/>
          </p:nvPr>
        </p:nvSpPr>
        <p:spPr/>
        <p:txBody>
          <a:bodyPr/>
          <a:lstStyle/>
          <a:p>
            <a:r>
              <a:t>Primer time again, because module nine needs it: what is RAG? RAG is Retrieval-Augmented Generation. Here's the problem it solves: how does the agent answer 'what does VIP mean at ShopFlow' without us retraining the model? We don't fine-tune anything. Instead, ahead of time, we take our seven markdown docs, split them into chunks, and turn each chunk into a vector, a list of numbers capturing its meaning, stored in ChromaDB. Then at question time, we turn the user's query into a vector too, and find the closest matching chunks by cosine similarity. We hand those top chunks to the model as context, and it answers from them. The benefits: it's cheap, it's current, you just edit a doc, and it's traceable, you can see which document the answer came from. That's retrieval feeding generation, and it's how almost every 'chat with your docs' product works under the hood.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nine: the RAG MCP server, your second server, in a totally different domain. The point here is reuse of pattern: it's the exact same FastMCP shape as your DQ server, but the tools do something completely different, semantic search over documents instead of SQL. A practical detail worth highlighting: ChromaDB ships with a built-in ONNX embedding model, so there's no PyTorch, no gigabytes of dependencies, and no API key needed for embeddings. You index once, which takes about thirty seconds the first time, and then queries are milliseconds. The files: the seven ShopFlow docs, a build-rag-index script, and rag-server dot py. You register it as the third server in mcp dot json and whitelist search_docs and list_docs. The check: ask 'what does VIP mean', the agent calls search_docs, and the answer cites your glossary. Two servers, two domains, one identical pattern, that's the skill you're taking home.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ten is the punchline of the entire workshop. We take the exact same two servers you just built and run them inside a completely different agent: Claude Desktop. The concept is that MCP is client-agnostic. Your servers don't know or care who's calling them. So we get two products, our Streamlit app and Claude, sharing one toolset, and that shared leverage is the whole reason MCP exists. Practically, you paste a small config into Claude's config file, restart Claude, and both your servers appear under the tools icon. The check is the magic moment: ask Claude one question like 'is orders fresh and what does VIP mean', and it uses BOTH of your servers in a single answer, with you having written zero Claude-specific code. When you see your own tool light up inside a product you didn't build, that's when MCP really clicks.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talk validation and quality, because a demo that isn't tested isn't real. We ship seventeen pytest cases, all passing, covering the guardrail and the chart picker. We have an end-to-end smoke script that drives the live agent over five representative questions, including a RAG question. We do a full browser walkthrough, chat, charts, the guardrail, the health snapshot, and doc search. And run dot p-s-1 gives us clean-checkout reproducibility on Windows, so a fresh clone comes up the same way every time. The takeaway: everything you built today is backed by automated checks, which means you can keep changing it tomorrow without fear.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could you take this next? A few directions. More data-quality tools, things like top categories, anomaly detection, and schema diffing. Warehouse adapters, pointing at Postgres, Snowflake, or BigQuery through existing MCP servers, remember, that's just an mcp dot json change. Agentic upgrades, like a pre-flight data-quality planner, a self-critique loop, or specialist sub-agents. And governance for production, per-tool audit logs, a query budget, and row-level access rules. The point is that the architecture you built is a foundation, each of these is an incremental addition, not a rewrite, because MCP keeps the pieces cleanly separated.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your reference, here's the repository layout. The solution folder holds the complete reference implementation, the app, the two in-house servers, and the agent, so if you ever get stuck you can peek at the finished code. The student folder has the progressive build cards, the eleven modules you worked through. Docs holds the RAG corpus. Data holds the synthetic warehouse generator, the SQLite file, and the Chroma index. Tests holds the pytest suite. And there are supporting facilitator notes. Everything is in here; take the repo home, and you can rebuild or extend any part of it on your own.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that's DataPilot. In two sessions you went from an empty folder to a working, safe, tested chat-over-data agent, and, more importantly, you authored two of your own MCP servers and watched them run inside a second product without changing a line. That skill, building tools once and having every agent use them, is going to matter more and more. Thank you all for building along with me. My LinkedIn is on the slide, please connect and share what you build. I'd love to take your questions now.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E3F"/>
        </a:solidFill>
        <a:effectLst/>
      </p:bgPr>
    </p:bg>
    <p:spTree>
      <p:nvGrpSpPr>
        <p:cNvPr id="1" name=""/>
        <p:cNvGrpSpPr/>
        <p:nvPr/>
      </p:nvGrpSpPr>
      <p:grpSpPr>
        <a:xfrm>
          <a:off x="0" y="0"/>
          <a:ext cx="0" cy="0"/>
          <a:chOff x="0" y="0"/>
          <a:chExt cx="0" cy="0"/>
        </a:xfrm>
      </p:grpSpPr>
      <p:sp>
        <p:nvSpPr>
          <p:cNvPr id="2" name="TextBox 1"/>
          <p:cNvSpPr txBox="1"/>
          <p:nvPr/>
        </p:nvSpPr>
        <p:spPr>
          <a:xfrm>
            <a:off x="548640" y="2194560"/>
            <a:ext cx="11430000" cy="1828800"/>
          </a:xfrm>
          <a:prstGeom prst="rect">
            <a:avLst/>
          </a:prstGeom>
          <a:noFill/>
        </p:spPr>
        <p:txBody>
          <a:bodyPr wrap="none">
            <a:spAutoFit/>
          </a:bodyPr>
          <a:lstStyle/>
          <a:p>
            <a:pPr>
              <a:defRPr sz="5400" b="1">
                <a:solidFill>
                  <a:srgbClr val="FFFFFF"/>
                </a:solidFill>
              </a:defRPr>
            </a:pPr>
            <a:r>
              <a:rPr dirty="0" err="1"/>
              <a:t>DataPilot</a:t>
            </a:r>
            <a:endParaRPr dirty="0"/>
          </a:p>
          <a:p>
            <a:pPr>
              <a:defRPr sz="2200">
                <a:solidFill>
                  <a:srgbClr val="00B3A4"/>
                </a:solidFill>
              </a:defRPr>
            </a:pPr>
            <a:r>
              <a:rPr dirty="0"/>
              <a:t>An MCP-native SQL &amp; Data-Quality agent for analytics teams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4253865" cy="521970"/>
          </a:xfrm>
          <a:prstGeom prst="rect">
            <a:avLst/>
          </a:prstGeom>
          <a:noFill/>
        </p:spPr>
        <p:txBody>
          <a:bodyPr wrap="none">
            <a:spAutoFit/>
          </a:bodyPr>
          <a:lstStyle/>
          <a:p>
            <a:pPr>
              <a:defRPr sz="2800" b="1">
                <a:solidFill>
                  <a:srgbClr val="FFFFFF"/>
                </a:solidFill>
              </a:defRPr>
            </a:pPr>
            <a:r>
              <a:t>What we're building today  </a:t>
            </a:r>
          </a:p>
        </p:txBody>
      </p:sp>
      <p:sp>
        <p:nvSpPr>
          <p:cNvPr id="4" name="TextBox 3"/>
          <p:cNvSpPr txBox="1"/>
          <p:nvPr/>
        </p:nvSpPr>
        <p:spPr>
          <a:xfrm>
            <a:off x="548640" y="914400"/>
            <a:ext cx="10972800" cy="2430145"/>
          </a:xfrm>
          <a:prstGeom prst="rect">
            <a:avLst/>
          </a:prstGeom>
          <a:noFill/>
        </p:spPr>
        <p:txBody>
          <a:bodyPr wrap="square">
            <a:spAutoFit/>
          </a:bodyPr>
          <a:lstStyle/>
          <a:p>
            <a:pPr>
              <a:defRPr sz="2200" b="1">
                <a:solidFill>
                  <a:srgbClr val="0E1E3F"/>
                </a:solidFill>
              </a:defRPr>
            </a:pPr>
            <a:r>
              <a:rPr dirty="0"/>
              <a:t>▸ The pain we're killing</a:t>
            </a:r>
          </a:p>
          <a:p>
            <a:pPr>
              <a:defRPr sz="1600">
                <a:solidFill>
                  <a:srgbClr val="666666"/>
                </a:solidFill>
              </a:defRPr>
            </a:pPr>
            <a:r>
              <a:rPr dirty="0"/>
              <a:t>    Analysts wait on engineers. LLM SQL bots are brittle. No data-quality awareness. Tools don't compose.</a:t>
            </a:r>
          </a:p>
          <a:p>
            <a:pPr>
              <a:defRPr sz="2200" b="1">
                <a:solidFill>
                  <a:srgbClr val="0E1E3F"/>
                </a:solidFill>
              </a:defRPr>
            </a:pPr>
            <a:r>
              <a:rPr dirty="0"/>
              <a:t>▸ What you walk out wit</a:t>
            </a:r>
            <a:r>
              <a:rPr lang="en-IN" dirty="0"/>
              <a:t>h</a:t>
            </a:r>
            <a:endParaRPr dirty="0"/>
          </a:p>
          <a:p>
            <a:pPr>
              <a:defRPr sz="1600">
                <a:solidFill>
                  <a:srgbClr val="666666"/>
                </a:solidFill>
              </a:defRPr>
            </a:pPr>
            <a:r>
              <a:rPr dirty="0"/>
              <a:t>    A working chat-over-data agent  +  T</a:t>
            </a:r>
            <a:r>
              <a:rPr lang="en-IN" dirty="0"/>
              <a:t>THREE</a:t>
            </a:r>
            <a:r>
              <a:rPr dirty="0"/>
              <a:t> MCP servers you authored  +  the same servers plugged into </a:t>
            </a:r>
            <a:r>
              <a:rPr lang="en-IN" dirty="0"/>
              <a:t>the agent</a:t>
            </a:r>
            <a:endParaRPr dirty="0"/>
          </a:p>
          <a:p>
            <a:pPr>
              <a:defRPr sz="2200" b="1">
                <a:solidFill>
                  <a:srgbClr val="0E1E3F"/>
                </a:solidFill>
              </a:defRPr>
            </a:pPr>
            <a:r>
              <a:rPr dirty="0"/>
              <a:t>▸ Production hygiene built in from minute one</a:t>
            </a:r>
          </a:p>
          <a:p>
            <a:pPr>
              <a:defRPr sz="1600">
                <a:solidFill>
                  <a:srgbClr val="666666"/>
                </a:solidFill>
              </a:defRPr>
            </a:pPr>
            <a:r>
              <a:rPr dirty="0"/>
              <a:t>    Read-only guardrail, SQL </a:t>
            </a:r>
            <a:r>
              <a:rPr dirty="0" err="1"/>
              <a:t>sanitiser</a:t>
            </a:r>
            <a:r>
              <a:rPr dirty="0"/>
              <a:t>, auto-LIMIT, end-to-end smoke harness</a:t>
            </a:r>
          </a:p>
          <a:p>
            <a:pPr>
              <a:defRPr sz="2200" b="1">
                <a:solidFill>
                  <a:srgbClr val="0E1E3F"/>
                </a:solidFill>
              </a:defRPr>
            </a:pPr>
            <a:r>
              <a:rPr dirty="0"/>
              <a:t>▸ Why MCP, not glue code</a:t>
            </a:r>
          </a:p>
          <a:p>
            <a:pPr>
              <a:defRPr sz="1600">
                <a:solidFill>
                  <a:srgbClr val="666666"/>
                </a:solidFill>
              </a:defRPr>
            </a:pPr>
            <a:r>
              <a:rPr dirty="0"/>
              <a:t>    Write a tool ONCE → every MCP-aware agent (</a:t>
            </a:r>
            <a:r>
              <a:rPr dirty="0" err="1"/>
              <a:t>Streamlit</a:t>
            </a:r>
            <a:r>
              <a:rPr dirty="0"/>
              <a:t>, Claude Desktop, Cursor, your future copilot) gets it for free</a:t>
            </a:r>
          </a:p>
        </p:txBody>
      </p:sp>
      <p:sp>
        <p:nvSpPr>
          <p:cNvPr id="5" name="Rectangle 4"/>
          <p:cNvSpPr/>
          <p:nvPr/>
        </p:nvSpPr>
        <p:spPr>
          <a:xfrm>
            <a:off x="0" y="6675120"/>
            <a:ext cx="12188952" cy="18288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7" name="TextBox 6"/>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 / 30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548640"/>
          </a:xfrm>
          <a:prstGeom prst="rect">
            <a:avLst/>
          </a:prstGeom>
          <a:noFill/>
        </p:spPr>
        <p:txBody>
          <a:bodyPr wrap="none">
            <a:spAutoFit/>
          </a:bodyPr>
          <a:lstStyle/>
          <a:p>
            <a:pPr>
              <a:defRPr sz="2800" b="1">
                <a:solidFill>
                  <a:srgbClr val="FFFFFF"/>
                </a:solidFill>
              </a:defRPr>
            </a:pPr>
            <a:r>
              <a:t>Architecture  —  the one diagram</a:t>
            </a:r>
          </a:p>
        </p:txBody>
      </p:sp>
      <p:sp>
        <p:nvSpPr>
          <p:cNvPr id="4" name="Rounded Rectangle 3"/>
          <p:cNvSpPr/>
          <p:nvPr/>
        </p:nvSpPr>
        <p:spPr>
          <a:xfrm>
            <a:off x="3803904" y="1005840"/>
            <a:ext cx="4572000" cy="640080"/>
          </a:xfrm>
          <a:prstGeom prst="roundRect">
            <a:avLst/>
          </a:prstGeom>
          <a:solidFill>
            <a:srgbClr val="0E1E3F"/>
          </a:solidFill>
          <a:ln>
            <a:solidFill>
              <a:srgbClr val="0E1E3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Streamlit UI</a:t>
            </a:r>
            <a:br/>
            <a:r>
              <a:t>chat  ·  sidebar  ·  charts</a:t>
            </a:r>
          </a:p>
        </p:txBody>
      </p:sp>
      <p:cxnSp>
        <p:nvCxnSpPr>
          <p:cNvPr id="5" name="Connector 4"/>
          <p:cNvCxnSpPr/>
          <p:nvPr/>
        </p:nvCxnSpPr>
        <p:spPr>
          <a:xfrm>
            <a:off x="6089904" y="1691640"/>
            <a:ext cx="0" cy="45720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889504" y="2194560"/>
            <a:ext cx="6400800" cy="77724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ChatAgent  —  LangGraph ReAct  +  InMemorySaver  +  Guardrail wrapper</a:t>
            </a:r>
          </a:p>
        </p:txBody>
      </p:sp>
      <p:sp>
        <p:nvSpPr>
          <p:cNvPr id="7" name="TextBox 6"/>
          <p:cNvSpPr txBox="1"/>
          <p:nvPr/>
        </p:nvSpPr>
        <p:spPr>
          <a:xfrm>
            <a:off x="6089904" y="3017520"/>
            <a:ext cx="3657600" cy="274320"/>
          </a:xfrm>
          <a:prstGeom prst="rect">
            <a:avLst/>
          </a:prstGeom>
          <a:noFill/>
        </p:spPr>
        <p:txBody>
          <a:bodyPr wrap="square">
            <a:spAutoFit/>
          </a:bodyPr>
          <a:lstStyle/>
          <a:p>
            <a:pPr algn="ctr">
              <a:defRPr sz="1100" i="1">
                <a:solidFill>
                  <a:srgbClr val="666666"/>
                </a:solidFill>
              </a:defRPr>
            </a:pPr>
            <a:r>
              <a:t>stdio  /  JSON-RPC  (Model Context Protocol)</a:t>
            </a:r>
          </a:p>
        </p:txBody>
      </p:sp>
      <p:cxnSp>
        <p:nvCxnSpPr>
          <p:cNvPr id="8" name="Connector 7"/>
          <p:cNvCxnSpPr/>
          <p:nvPr/>
        </p:nvCxnSpPr>
        <p:spPr>
          <a:xfrm flipH="1">
            <a:off x="2286000" y="3337560"/>
            <a:ext cx="1975104" cy="50292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9904" y="3337560"/>
            <a:ext cx="0" cy="50292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918704" y="3337560"/>
            <a:ext cx="1984248" cy="50292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40080" y="3840480"/>
            <a:ext cx="3291840" cy="914400"/>
          </a:xfrm>
          <a:prstGeom prst="roundRect">
            <a:avLst/>
          </a:prstGeom>
          <a:solidFill>
            <a:srgbClr val="4C6EF5"/>
          </a:solidFill>
          <a:ln>
            <a:solidFill>
              <a:srgbClr val="4C6EF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shopflow-sqlite</a:t>
            </a:r>
            <a:br/>
            <a:r>
              <a:t>6 tools (off-the-shelf)</a:t>
            </a:r>
          </a:p>
        </p:txBody>
      </p:sp>
      <p:sp>
        <p:nvSpPr>
          <p:cNvPr id="12" name="Rounded Rectangle 11"/>
          <p:cNvSpPr/>
          <p:nvPr/>
        </p:nvSpPr>
        <p:spPr>
          <a:xfrm>
            <a:off x="4443984" y="3840480"/>
            <a:ext cx="3291840" cy="91440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datapilot-dq</a:t>
            </a:r>
            <a:br/>
            <a:r>
              <a:t>4 tools (in-house)</a:t>
            </a:r>
          </a:p>
        </p:txBody>
      </p:sp>
      <p:sp>
        <p:nvSpPr>
          <p:cNvPr id="13" name="Rounded Rectangle 12"/>
          <p:cNvSpPr/>
          <p:nvPr/>
        </p:nvSpPr>
        <p:spPr>
          <a:xfrm>
            <a:off x="8257031" y="3840480"/>
            <a:ext cx="3291840" cy="91440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datapilot-rag</a:t>
            </a:r>
            <a:br/>
            <a:r>
              <a:t>2 tools (in-house)</a:t>
            </a:r>
          </a:p>
        </p:txBody>
      </p:sp>
      <p:cxnSp>
        <p:nvCxnSpPr>
          <p:cNvPr id="14" name="Connector 13"/>
          <p:cNvCxnSpPr/>
          <p:nvPr/>
        </p:nvCxnSpPr>
        <p:spPr>
          <a:xfrm>
            <a:off x="2286000" y="4800600"/>
            <a:ext cx="1975104" cy="64008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89904" y="4800600"/>
            <a:ext cx="0" cy="64008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918704" y="4800600"/>
            <a:ext cx="1984248" cy="64008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46704" y="5440680"/>
            <a:ext cx="2743200" cy="777240"/>
          </a:xfrm>
          <a:prstGeom prst="roundRect">
            <a:avLst/>
          </a:prstGeom>
          <a:solidFill>
            <a:srgbClr val="0E1E3F"/>
          </a:solidFill>
          <a:ln>
            <a:solidFill>
              <a:srgbClr val="0E1E3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SQLite  ·  shopflow.db</a:t>
            </a:r>
          </a:p>
        </p:txBody>
      </p:sp>
      <p:sp>
        <p:nvSpPr>
          <p:cNvPr id="18" name="Rounded Rectangle 17"/>
          <p:cNvSpPr/>
          <p:nvPr/>
        </p:nvSpPr>
        <p:spPr>
          <a:xfrm>
            <a:off x="6089904" y="5440680"/>
            <a:ext cx="2743200" cy="777240"/>
          </a:xfrm>
          <a:prstGeom prst="roundRect">
            <a:avLst/>
          </a:prstGeom>
          <a:solidFill>
            <a:srgbClr val="0E1E3F"/>
          </a:solidFill>
          <a:ln>
            <a:solidFill>
              <a:srgbClr val="0E1E3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ChromaDB  ·  docs/*.md</a:t>
            </a:r>
          </a:p>
        </p:txBody>
      </p:sp>
      <p:sp>
        <p:nvSpPr>
          <p:cNvPr id="20" name="Rounded Rectangle 19"/>
          <p:cNvSpPr/>
          <p:nvPr/>
        </p:nvSpPr>
        <p:spPr>
          <a:xfrm>
            <a:off x="10817352" y="5486400"/>
            <a:ext cx="1188720" cy="502920"/>
          </a:xfrm>
          <a:prstGeom prst="roundRect">
            <a:avLst/>
          </a:prstGeom>
          <a:solidFill>
            <a:srgbClr val="666666"/>
          </a:solidFill>
          <a:ln>
            <a:solidFill>
              <a:srgbClr val="666666"/>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Claude</a:t>
            </a:r>
            <a:br/>
            <a:r>
              <a:t>Desktop</a:t>
            </a:r>
          </a:p>
        </p:txBody>
      </p:sp>
      <p:sp>
        <p:nvSpPr>
          <p:cNvPr id="21" name="Rectangle 20"/>
          <p:cNvSpPr/>
          <p:nvPr/>
        </p:nvSpPr>
        <p:spPr>
          <a:xfrm>
            <a:off x="0" y="6675120"/>
            <a:ext cx="12188952" cy="18288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23" name="TextBox 22"/>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3 / 30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548640"/>
          </a:xfrm>
          <a:prstGeom prst="rect">
            <a:avLst/>
          </a:prstGeom>
          <a:noFill/>
        </p:spPr>
        <p:txBody>
          <a:bodyPr wrap="none">
            <a:spAutoFit/>
          </a:bodyPr>
          <a:lstStyle/>
          <a:p>
            <a:pPr>
              <a:defRPr sz="2800" b="1">
                <a:solidFill>
                  <a:srgbClr val="FFFFFF"/>
                </a:solidFill>
              </a:defRPr>
            </a:pPr>
            <a:r>
              <a:t>Tech stack</a:t>
            </a:r>
          </a:p>
        </p:txBody>
      </p:sp>
      <p:sp>
        <p:nvSpPr>
          <p:cNvPr id="4" name="TextBox 3"/>
          <p:cNvSpPr txBox="1"/>
          <p:nvPr/>
        </p:nvSpPr>
        <p:spPr>
          <a:xfrm>
            <a:off x="548640" y="914400"/>
            <a:ext cx="10972800" cy="5486400"/>
          </a:xfrm>
          <a:prstGeom prst="rect">
            <a:avLst/>
          </a:prstGeom>
          <a:noFill/>
        </p:spPr>
        <p:txBody>
          <a:bodyPr wrap="square">
            <a:spAutoFit/>
          </a:bodyPr>
          <a:lstStyle/>
          <a:p>
            <a:pPr>
              <a:defRPr sz="2200" b="1">
                <a:solidFill>
                  <a:srgbClr val="0E1E3F"/>
                </a:solidFill>
              </a:defRPr>
            </a:pPr>
            <a:r>
              <a:rPr dirty="0"/>
              <a:t>▸ Agent runtime</a:t>
            </a:r>
          </a:p>
          <a:p>
            <a:pPr>
              <a:defRPr sz="1600">
                <a:solidFill>
                  <a:srgbClr val="666666"/>
                </a:solidFill>
              </a:defRPr>
            </a:pPr>
            <a:r>
              <a:rPr dirty="0"/>
              <a:t>    </a:t>
            </a:r>
            <a:r>
              <a:rPr dirty="0" err="1"/>
              <a:t>LangGraph</a:t>
            </a:r>
            <a:r>
              <a:rPr dirty="0"/>
              <a:t> </a:t>
            </a:r>
            <a:r>
              <a:rPr dirty="0" err="1"/>
              <a:t>create_react_agent</a:t>
            </a:r>
            <a:r>
              <a:rPr dirty="0"/>
              <a:t> + </a:t>
            </a:r>
            <a:r>
              <a:rPr dirty="0" err="1"/>
              <a:t>InMemorySaver</a:t>
            </a:r>
            <a:endParaRPr dirty="0"/>
          </a:p>
          <a:p>
            <a:pPr>
              <a:defRPr sz="2200" b="1">
                <a:solidFill>
                  <a:srgbClr val="0E1E3F"/>
                </a:solidFill>
              </a:defRPr>
            </a:pPr>
            <a:r>
              <a:rPr dirty="0"/>
              <a:t>▸ Tool protocol</a:t>
            </a:r>
          </a:p>
          <a:p>
            <a:pPr>
              <a:defRPr sz="1600">
                <a:solidFill>
                  <a:srgbClr val="666666"/>
                </a:solidFill>
              </a:defRPr>
            </a:pPr>
            <a:r>
              <a:rPr dirty="0"/>
              <a:t>    Model Context Protocol (MCP) over </a:t>
            </a:r>
            <a:r>
              <a:rPr dirty="0" err="1"/>
              <a:t>stdio</a:t>
            </a:r>
            <a:endParaRPr dirty="0"/>
          </a:p>
          <a:p>
            <a:pPr>
              <a:defRPr sz="2200" b="1">
                <a:solidFill>
                  <a:srgbClr val="0E1E3F"/>
                </a:solidFill>
              </a:defRPr>
            </a:pPr>
            <a:r>
              <a:rPr dirty="0"/>
              <a:t>▸ Tool authoring</a:t>
            </a:r>
          </a:p>
          <a:p>
            <a:pPr>
              <a:defRPr sz="1600">
                <a:solidFill>
                  <a:srgbClr val="666666"/>
                </a:solidFill>
              </a:defRPr>
            </a:pPr>
            <a:r>
              <a:rPr dirty="0"/>
              <a:t>    </a:t>
            </a:r>
            <a:r>
              <a:rPr dirty="0" err="1"/>
              <a:t>FastMCP</a:t>
            </a:r>
            <a:r>
              <a:rPr dirty="0"/>
              <a:t> (Python decorators)</a:t>
            </a:r>
          </a:p>
          <a:p>
            <a:pPr>
              <a:defRPr sz="2200" b="1">
                <a:solidFill>
                  <a:srgbClr val="0E1E3F"/>
                </a:solidFill>
              </a:defRPr>
            </a:pPr>
            <a:r>
              <a:rPr dirty="0"/>
              <a:t>▸ LLM</a:t>
            </a:r>
          </a:p>
          <a:p>
            <a:pPr>
              <a:defRPr sz="1600">
                <a:solidFill>
                  <a:srgbClr val="666666"/>
                </a:solidFill>
              </a:defRPr>
            </a:pPr>
            <a:r>
              <a:rPr dirty="0"/>
              <a:t>    </a:t>
            </a:r>
            <a:r>
              <a:rPr dirty="0" err="1"/>
              <a:t>Groq</a:t>
            </a:r>
            <a:r>
              <a:rPr dirty="0"/>
              <a:t> (default </a:t>
            </a:r>
            <a:r>
              <a:rPr dirty="0" err="1"/>
              <a:t>openai</a:t>
            </a:r>
            <a:r>
              <a:rPr dirty="0"/>
              <a:t>/gpt-oss-20b) -- pluggable</a:t>
            </a:r>
          </a:p>
          <a:p>
            <a:pPr>
              <a:defRPr sz="2200" b="1">
                <a:solidFill>
                  <a:srgbClr val="0E1E3F"/>
                </a:solidFill>
              </a:defRPr>
            </a:pPr>
            <a:r>
              <a:rPr dirty="0"/>
              <a:t>▸ UI</a:t>
            </a:r>
          </a:p>
          <a:p>
            <a:pPr>
              <a:defRPr sz="1600">
                <a:solidFill>
                  <a:srgbClr val="666666"/>
                </a:solidFill>
              </a:defRPr>
            </a:pPr>
            <a:r>
              <a:rPr dirty="0"/>
              <a:t>    </a:t>
            </a:r>
            <a:r>
              <a:rPr dirty="0" err="1"/>
              <a:t>Streamlit</a:t>
            </a:r>
            <a:r>
              <a:rPr dirty="0"/>
              <a:t> + Plotly</a:t>
            </a:r>
          </a:p>
          <a:p>
            <a:pPr>
              <a:defRPr sz="2200" b="1">
                <a:solidFill>
                  <a:srgbClr val="0E1E3F"/>
                </a:solidFill>
              </a:defRPr>
            </a:pPr>
            <a:r>
              <a:rPr dirty="0"/>
              <a:t>▸ Data</a:t>
            </a:r>
          </a:p>
          <a:p>
            <a:pPr>
              <a:defRPr sz="1600">
                <a:solidFill>
                  <a:srgbClr val="666666"/>
                </a:solidFill>
              </a:defRPr>
            </a:pPr>
            <a:r>
              <a:rPr dirty="0"/>
              <a:t>    SQLite (synthetic </a:t>
            </a:r>
            <a:r>
              <a:rPr dirty="0" err="1"/>
              <a:t>ShopFlow</a:t>
            </a:r>
            <a:r>
              <a:rPr dirty="0"/>
              <a:t>: 800 customers, 4 000 orders)  +  </a:t>
            </a:r>
            <a:r>
              <a:rPr dirty="0" err="1"/>
              <a:t>ChromaDB</a:t>
            </a:r>
            <a:r>
              <a:rPr dirty="0"/>
              <a:t> (7 short docs)</a:t>
            </a:r>
          </a:p>
          <a:p>
            <a:pPr>
              <a:defRPr sz="2200" b="1">
                <a:solidFill>
                  <a:srgbClr val="0E1E3F"/>
                </a:solidFill>
              </a:defRPr>
            </a:pPr>
            <a:r>
              <a:rPr dirty="0"/>
              <a:t>▸ Tests</a:t>
            </a:r>
          </a:p>
          <a:p>
            <a:pPr>
              <a:defRPr sz="1600">
                <a:solidFill>
                  <a:srgbClr val="666666"/>
                </a:solidFill>
              </a:defRPr>
            </a:pPr>
            <a:r>
              <a:rPr dirty="0"/>
              <a:t>    </a:t>
            </a:r>
            <a:r>
              <a:rPr dirty="0" err="1"/>
              <a:t>pytest</a:t>
            </a:r>
            <a:r>
              <a:rPr dirty="0"/>
              <a:t> (17 cases) + smoke_e2e.py</a:t>
            </a:r>
          </a:p>
        </p:txBody>
      </p:sp>
      <p:sp>
        <p:nvSpPr>
          <p:cNvPr id="5" name="Rectangle 4"/>
          <p:cNvSpPr/>
          <p:nvPr/>
        </p:nvSpPr>
        <p:spPr>
          <a:xfrm>
            <a:off x="0" y="6675120"/>
            <a:ext cx="12188952" cy="18288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7" name="TextBox 6"/>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4 / 30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548640"/>
          </a:xfrm>
          <a:prstGeom prst="rect">
            <a:avLst/>
          </a:prstGeom>
          <a:noFill/>
        </p:spPr>
        <p:txBody>
          <a:bodyPr wrap="none">
            <a:spAutoFit/>
          </a:bodyPr>
          <a:lstStyle/>
          <a:p>
            <a:pPr>
              <a:defRPr sz="2800" b="1">
                <a:solidFill>
                  <a:srgbClr val="FFFFFF"/>
                </a:solidFill>
              </a:defRPr>
            </a:pPr>
            <a:r>
              <a:t>Delivery roadmap  —  11 modules in 2 sessions</a:t>
            </a:r>
          </a:p>
        </p:txBody>
      </p:sp>
      <p:sp>
        <p:nvSpPr>
          <p:cNvPr id="4" name="TextBox 3"/>
          <p:cNvSpPr txBox="1"/>
          <p:nvPr/>
        </p:nvSpPr>
        <p:spPr>
          <a:xfrm>
            <a:off x="548640" y="914400"/>
            <a:ext cx="10972800" cy="2431435"/>
          </a:xfrm>
          <a:prstGeom prst="rect">
            <a:avLst/>
          </a:prstGeom>
          <a:noFill/>
        </p:spPr>
        <p:txBody>
          <a:bodyPr wrap="square">
            <a:spAutoFit/>
          </a:bodyPr>
          <a:lstStyle/>
          <a:p>
            <a:pPr>
              <a:defRPr sz="2200" b="1">
                <a:solidFill>
                  <a:srgbClr val="0E1E3F"/>
                </a:solidFill>
              </a:defRPr>
            </a:pPr>
            <a:r>
              <a:rPr dirty="0"/>
              <a:t>▸ Phase 1</a:t>
            </a:r>
            <a:endParaRPr lang="en-US" dirty="0"/>
          </a:p>
          <a:p>
            <a:pPr>
              <a:defRPr sz="1600">
                <a:solidFill>
                  <a:srgbClr val="666666"/>
                </a:solidFill>
              </a:defRPr>
            </a:pPr>
            <a:r>
              <a:rPr lang="en-US" dirty="0"/>
              <a:t>    Modules 0–5  ·  setup, MCP wiring, chat agent, guardrails, charts, config</a:t>
            </a:r>
          </a:p>
          <a:p>
            <a:pPr>
              <a:defRPr sz="2200" b="1">
                <a:solidFill>
                  <a:srgbClr val="0E1E3F"/>
                </a:solidFill>
              </a:defRPr>
            </a:pPr>
            <a:r>
              <a:rPr dirty="0"/>
              <a:t>▸ Phase 2</a:t>
            </a:r>
          </a:p>
          <a:p>
            <a:pPr>
              <a:defRPr sz="1600">
                <a:solidFill>
                  <a:srgbClr val="666666"/>
                </a:solidFill>
              </a:defRPr>
            </a:pPr>
            <a:r>
              <a:rPr dirty="0"/>
              <a:t>    Modules 6–10  ·  recap, DQ server, health, RAG server, Claude Desktop</a:t>
            </a:r>
          </a:p>
          <a:p>
            <a:pPr>
              <a:defRPr sz="2200" b="1">
                <a:solidFill>
                  <a:srgbClr val="0E1E3F"/>
                </a:solidFill>
              </a:defRPr>
            </a:pPr>
            <a:r>
              <a:rPr dirty="0"/>
              <a:t>▸ Validation gates</a:t>
            </a:r>
          </a:p>
          <a:p>
            <a:pPr>
              <a:defRPr sz="1600">
                <a:solidFill>
                  <a:srgbClr val="666666"/>
                </a:solidFill>
              </a:defRPr>
            </a:pPr>
            <a:r>
              <a:rPr dirty="0"/>
              <a:t>    </a:t>
            </a:r>
            <a:r>
              <a:rPr dirty="0" err="1"/>
              <a:t>pytest</a:t>
            </a:r>
            <a:r>
              <a:rPr dirty="0"/>
              <a:t> green, smoke pass, browser walkthrough</a:t>
            </a:r>
          </a:p>
          <a:p>
            <a:pPr>
              <a:defRPr sz="2200" b="1">
                <a:solidFill>
                  <a:srgbClr val="0E1E3F"/>
                </a:solidFill>
              </a:defRPr>
            </a:pPr>
            <a:r>
              <a:rPr dirty="0"/>
              <a:t>▸ Pair-and-share</a:t>
            </a:r>
          </a:p>
          <a:p>
            <a:pPr>
              <a:defRPr sz="1600">
                <a:solidFill>
                  <a:srgbClr val="666666"/>
                </a:solidFill>
              </a:defRPr>
            </a:pPr>
            <a:r>
              <a:rPr dirty="0"/>
              <a:t>    If your </a:t>
            </a:r>
            <a:r>
              <a:rPr dirty="0" err="1"/>
              <a:t>neighbour</a:t>
            </a:r>
            <a:r>
              <a:rPr dirty="0"/>
              <a:t> is stuck, you're stuck. We move as one room.</a:t>
            </a:r>
          </a:p>
        </p:txBody>
      </p:sp>
      <p:sp>
        <p:nvSpPr>
          <p:cNvPr id="5" name="Rectangle 4"/>
          <p:cNvSpPr/>
          <p:nvPr/>
        </p:nvSpPr>
        <p:spPr>
          <a:xfrm>
            <a:off x="0" y="6675120"/>
            <a:ext cx="12188952" cy="18288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7" name="TextBox 6"/>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5 / 30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E3F"/>
        </a:solidFill>
        <a:effectLst/>
      </p:bgPr>
    </p:bg>
    <p:spTree>
      <p:nvGrpSpPr>
        <p:cNvPr id="1" name=""/>
        <p:cNvGrpSpPr/>
        <p:nvPr/>
      </p:nvGrpSpPr>
      <p:grpSpPr>
        <a:xfrm>
          <a:off x="0" y="0"/>
          <a:ext cx="0" cy="0"/>
          <a:chOff x="0" y="0"/>
          <a:chExt cx="0" cy="0"/>
        </a:xfrm>
      </p:grpSpPr>
      <p:sp>
        <p:nvSpPr>
          <p:cNvPr id="2" name="TextBox 1"/>
          <p:cNvSpPr txBox="1"/>
          <p:nvPr/>
        </p:nvSpPr>
        <p:spPr>
          <a:xfrm>
            <a:off x="548640" y="2194560"/>
            <a:ext cx="3717428" cy="1261884"/>
          </a:xfrm>
          <a:prstGeom prst="rect">
            <a:avLst/>
          </a:prstGeom>
          <a:noFill/>
        </p:spPr>
        <p:txBody>
          <a:bodyPr wrap="none">
            <a:spAutoFit/>
          </a:bodyPr>
          <a:lstStyle/>
          <a:p>
            <a:pPr>
              <a:defRPr sz="5400" b="1">
                <a:solidFill>
                  <a:srgbClr val="FFFFFF"/>
                </a:solidFill>
              </a:defRPr>
            </a:pPr>
            <a:r>
              <a:rPr dirty="0"/>
              <a:t>Phase 1</a:t>
            </a:r>
          </a:p>
          <a:p>
            <a:pPr>
              <a:defRPr sz="2200">
                <a:solidFill>
                  <a:srgbClr val="FFA500"/>
                </a:solidFill>
              </a:defRPr>
            </a:pPr>
            <a:r>
              <a:rPr dirty="0"/>
              <a:t>Foundation -- build the agent  </a:t>
            </a:r>
          </a:p>
        </p:txBody>
      </p:sp>
      <p:sp>
        <p:nvSpPr>
          <p:cNvPr id="3" name="TextBox 2"/>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4" name="TextBox 3"/>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6 / 30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0</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Setup -- get to a runnable shell</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Every laptop reaches the Day-0 Streamlit shell.</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rPr dirty="0"/>
              <a:t>• Reproducible env = </a:t>
            </a:r>
            <a:r>
              <a:rPr dirty="0" err="1"/>
              <a:t>venv</a:t>
            </a:r>
            <a:r>
              <a:rPr dirty="0"/>
              <a:t> + pinned requirements + .env for secrets.</a:t>
            </a:r>
          </a:p>
          <a:p>
            <a:pPr>
              <a:spcAft>
                <a:spcPts val="200"/>
              </a:spcAft>
              <a:defRPr sz="1500">
                <a:solidFill>
                  <a:srgbClr val="0E1E3F"/>
                </a:solidFill>
              </a:defRPr>
            </a:pPr>
            <a:r>
              <a:rPr dirty="0"/>
              <a:t>• Synthetic </a:t>
            </a:r>
            <a:r>
              <a:rPr dirty="0" err="1"/>
              <a:t>ShopFlow</a:t>
            </a:r>
            <a:r>
              <a:rPr dirty="0"/>
              <a:t> data uses a fixed seed -&gt; identical for everyone.</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rPr dirty="0"/>
              <a:t>• run.ps1, requirements.txt, .env (your </a:t>
            </a:r>
            <a:r>
              <a:rPr dirty="0" err="1"/>
              <a:t>Groq</a:t>
            </a:r>
            <a:r>
              <a:rPr dirty="0"/>
              <a:t> key)</a:t>
            </a:r>
          </a:p>
          <a:p>
            <a:pPr>
              <a:spcAft>
                <a:spcPts val="200"/>
              </a:spcAft>
              <a:defRPr sz="1500">
                <a:solidFill>
                  <a:srgbClr val="0E1E3F"/>
                </a:solidFill>
              </a:defRPr>
            </a:pPr>
            <a:r>
              <a:rPr dirty="0"/>
              <a:t>• data/build_shopflow.py -&gt; data/</a:t>
            </a:r>
            <a:r>
              <a:rPr dirty="0" err="1"/>
              <a:t>shopflow.db</a:t>
            </a:r>
            <a:r>
              <a:rPr dirty="0"/>
              <a:t> (800 </a:t>
            </a:r>
            <a:r>
              <a:rPr dirty="0" err="1"/>
              <a:t>cust</a:t>
            </a:r>
            <a:r>
              <a:rPr dirty="0"/>
              <a:t>, 4 000 orders)</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.\run.ps1 opens http://localhost:8501 and shows the Day-0 page.</a:t>
            </a:r>
          </a:p>
        </p:txBody>
      </p:sp>
      <p:sp>
        <p:nvSpPr>
          <p:cNvPr id="13" name="Rectangle 12"/>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7 / 30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PRIMER</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What is MCP?</a:t>
            </a:r>
          </a:p>
        </p:txBody>
      </p:sp>
      <p:sp>
        <p:nvSpPr>
          <p:cNvPr id="5" name="TextBox 4"/>
          <p:cNvSpPr txBox="1"/>
          <p:nvPr/>
        </p:nvSpPr>
        <p:spPr>
          <a:xfrm>
            <a:off x="548640" y="777240"/>
            <a:ext cx="11064240" cy="457200"/>
          </a:xfrm>
          <a:prstGeom prst="rect">
            <a:avLst/>
          </a:prstGeom>
          <a:noFill/>
        </p:spPr>
        <p:txBody>
          <a:bodyPr wrap="none">
            <a:spAutoFit/>
          </a:bodyPr>
          <a:lstStyle/>
          <a:p>
            <a:pPr>
              <a:defRPr sz="1500" i="1">
                <a:solidFill>
                  <a:srgbClr val="666666"/>
                </a:solidFill>
              </a:defRPr>
            </a:pPr>
            <a:r>
              <a:t>The standard that lets the same tool serve any agent.</a:t>
            </a:r>
          </a:p>
        </p:txBody>
      </p:sp>
      <p:sp>
        <p:nvSpPr>
          <p:cNvPr id="6" name="Rounded Rectangle 5"/>
          <p:cNvSpPr/>
          <p:nvPr/>
        </p:nvSpPr>
        <p:spPr>
          <a:xfrm>
            <a:off x="1097280" y="2194560"/>
            <a:ext cx="2926080" cy="118872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Your agent</a:t>
            </a:r>
            <a:br/>
            <a:r>
              <a:t>(LangGraph)</a:t>
            </a:r>
          </a:p>
        </p:txBody>
      </p:sp>
      <p:sp>
        <p:nvSpPr>
          <p:cNvPr id="7" name="Rounded Rectangle 6"/>
          <p:cNvSpPr/>
          <p:nvPr/>
        </p:nvSpPr>
        <p:spPr>
          <a:xfrm>
            <a:off x="4937760" y="2194560"/>
            <a:ext cx="2286000" cy="1188720"/>
          </a:xfrm>
          <a:prstGeom prst="roundRect">
            <a:avLst/>
          </a:prstGeom>
          <a:solidFill>
            <a:srgbClr val="666666"/>
          </a:solidFill>
          <a:ln>
            <a:solidFill>
              <a:srgbClr val="666666"/>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stdio</a:t>
            </a:r>
            <a:br/>
            <a:r>
              <a:t>JSON-RPC</a:t>
            </a:r>
          </a:p>
        </p:txBody>
      </p:sp>
      <p:sp>
        <p:nvSpPr>
          <p:cNvPr id="8" name="Rounded Rectangle 7"/>
          <p:cNvSpPr/>
          <p:nvPr/>
        </p:nvSpPr>
        <p:spPr>
          <a:xfrm>
            <a:off x="8138160" y="2194560"/>
            <a:ext cx="2926080" cy="118872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MCP server</a:t>
            </a:r>
            <a:br/>
            <a:r>
              <a:t>(subprocess)</a:t>
            </a:r>
          </a:p>
        </p:txBody>
      </p:sp>
      <p:cxnSp>
        <p:nvCxnSpPr>
          <p:cNvPr id="9" name="Connector 8"/>
          <p:cNvCxnSpPr/>
          <p:nvPr/>
        </p:nvCxnSpPr>
        <p:spPr>
          <a:xfrm>
            <a:off x="4023360" y="2788920"/>
            <a:ext cx="91440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223760" y="2788920"/>
            <a:ext cx="91440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97280" y="3520440"/>
            <a:ext cx="2926080" cy="274320"/>
          </a:xfrm>
          <a:prstGeom prst="rect">
            <a:avLst/>
          </a:prstGeom>
          <a:noFill/>
        </p:spPr>
        <p:txBody>
          <a:bodyPr wrap="square">
            <a:spAutoFit/>
          </a:bodyPr>
          <a:lstStyle/>
          <a:p>
            <a:pPr algn="ctr">
              <a:defRPr sz="1100" i="1">
                <a:solidFill>
                  <a:srgbClr val="666666"/>
                </a:solidFill>
              </a:defRPr>
            </a:pPr>
            <a:r>
              <a:t>tools/list -&gt; [...]</a:t>
            </a:r>
          </a:p>
        </p:txBody>
      </p:sp>
      <p:sp>
        <p:nvSpPr>
          <p:cNvPr id="12" name="TextBox 11"/>
          <p:cNvSpPr txBox="1"/>
          <p:nvPr/>
        </p:nvSpPr>
        <p:spPr>
          <a:xfrm>
            <a:off x="8138160" y="3520440"/>
            <a:ext cx="2926080" cy="274320"/>
          </a:xfrm>
          <a:prstGeom prst="rect">
            <a:avLst/>
          </a:prstGeom>
          <a:noFill/>
        </p:spPr>
        <p:txBody>
          <a:bodyPr wrap="square">
            <a:spAutoFit/>
          </a:bodyPr>
          <a:lstStyle/>
          <a:p>
            <a:pPr algn="ctr">
              <a:defRPr sz="1100" i="1">
                <a:solidFill>
                  <a:srgbClr val="666666"/>
                </a:solidFill>
              </a:defRPr>
            </a:pPr>
            <a:r>
              <a:t>tools/call -&gt; result</a:t>
            </a:r>
          </a:p>
        </p:txBody>
      </p:sp>
      <p:sp>
        <p:nvSpPr>
          <p:cNvPr id="13" name="TextBox 12"/>
          <p:cNvSpPr txBox="1"/>
          <p:nvPr/>
        </p:nvSpPr>
        <p:spPr>
          <a:xfrm>
            <a:off x="548640" y="4206240"/>
            <a:ext cx="11430000" cy="954107"/>
          </a:xfrm>
          <a:prstGeom prst="rect">
            <a:avLst/>
          </a:prstGeom>
          <a:noFill/>
        </p:spPr>
        <p:txBody>
          <a:bodyPr wrap="square">
            <a:spAutoFit/>
          </a:bodyPr>
          <a:lstStyle/>
          <a:p>
            <a:pPr algn="ctr">
              <a:defRPr sz="1400" i="1">
                <a:solidFill>
                  <a:srgbClr val="0E1E3F"/>
                </a:solidFill>
              </a:defRPr>
            </a:pPr>
            <a:r>
              <a:rPr dirty="0"/>
              <a:t>MCP = Model Context Protocol. A tiny JSON-RPC contract for tool servers.</a:t>
            </a:r>
            <a:br>
              <a:rPr dirty="0"/>
            </a:br>
            <a:r>
              <a:rPr dirty="0"/>
              <a:t>Servers run as their own subprocesses; the agent only speaks the protocol.</a:t>
            </a:r>
            <a:endParaRPr lang="en-IN" dirty="0"/>
          </a:p>
          <a:p>
            <a:pPr algn="ctr">
              <a:defRPr sz="1400" i="1">
                <a:solidFill>
                  <a:srgbClr val="0E1E3F"/>
                </a:solidFill>
              </a:defRPr>
            </a:pPr>
            <a:r>
              <a:rPr lang="en-IN" sz="1400" dirty="0"/>
              <a:t>Only two messages matter</a:t>
            </a:r>
            <a:br>
              <a:rPr dirty="0"/>
            </a:br>
            <a:r>
              <a:rPr dirty="0"/>
              <a:t>Analogy: USB-C for AI tools. Write a tool once -&gt; every MCP-aware agent (</a:t>
            </a:r>
            <a:r>
              <a:rPr dirty="0" err="1"/>
              <a:t>Streamlit</a:t>
            </a:r>
            <a:r>
              <a:rPr dirty="0"/>
              <a:t>, Claude, Cursor, ...) gets it.</a:t>
            </a:r>
          </a:p>
        </p:txBody>
      </p:sp>
      <p:sp>
        <p:nvSpPr>
          <p:cNvPr id="14" name="Rectangle 13"/>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6" name="TextBox 15"/>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8 / 30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1</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MCP wiring -- list 6 tools from a real server</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Spawn an off-the-shelf MCP server and see its tools in the sidebar.</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An MCP client launches a server as a subprocess and asks "what tools?".</a:t>
            </a:r>
          </a:p>
          <a:p>
            <a:pPr>
              <a:spcAft>
                <a:spcPts val="200"/>
              </a:spcAft>
              <a:defRPr sz="1500">
                <a:solidFill>
                  <a:srgbClr val="0E1E3F"/>
                </a:solidFill>
              </a:defRPr>
            </a:pPr>
            <a:r>
              <a:t>• You write ZERO tool code. The server (mcp-server-sqlite) already exists.</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 student/app/config/mcp.json -- declares shopflow-sqlite</a:t>
            </a:r>
          </a:p>
          <a:p>
            <a:pPr>
              <a:spcAft>
                <a:spcPts val="200"/>
              </a:spcAft>
              <a:defRPr sz="1500">
                <a:solidFill>
                  <a:srgbClr val="0E1E3F"/>
                </a:solidFill>
              </a:defRPr>
            </a:pPr>
            <a:r>
              <a:t>• student/app/mcp_clients.py -- loads + flattens tools for LangChain</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Sidebar shows: shopflow-sqlite . 6 tools (list_tables, read_query, ...).</a:t>
            </a:r>
          </a:p>
        </p:txBody>
      </p:sp>
      <p:sp>
        <p:nvSpPr>
          <p:cNvPr id="13" name="Rectangle 12"/>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9 / 30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PRIMER</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What is an LLM tool call?</a:t>
            </a:r>
          </a:p>
        </p:txBody>
      </p:sp>
      <p:sp>
        <p:nvSpPr>
          <p:cNvPr id="5" name="TextBox 4"/>
          <p:cNvSpPr txBox="1"/>
          <p:nvPr/>
        </p:nvSpPr>
        <p:spPr>
          <a:xfrm>
            <a:off x="548640" y="777240"/>
            <a:ext cx="11064240" cy="457200"/>
          </a:xfrm>
          <a:prstGeom prst="rect">
            <a:avLst/>
          </a:prstGeom>
          <a:noFill/>
        </p:spPr>
        <p:txBody>
          <a:bodyPr wrap="none">
            <a:spAutoFit/>
          </a:bodyPr>
          <a:lstStyle/>
          <a:p>
            <a:pPr>
              <a:defRPr sz="1500" i="1">
                <a:solidFill>
                  <a:srgbClr val="666666"/>
                </a:solidFill>
              </a:defRPr>
            </a:pPr>
            <a:r>
              <a:t>How the model goes from English question to executed Python.</a:t>
            </a:r>
          </a:p>
        </p:txBody>
      </p:sp>
      <p:sp>
        <p:nvSpPr>
          <p:cNvPr id="6" name="Rounded Rectangle 5"/>
          <p:cNvSpPr/>
          <p:nvPr/>
        </p:nvSpPr>
        <p:spPr>
          <a:xfrm>
            <a:off x="548640" y="2286000"/>
            <a:ext cx="2377440" cy="91440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User</a:t>
            </a:r>
            <a:br/>
            <a:r>
              <a:t>"how many</a:t>
            </a:r>
            <a:br/>
            <a:r>
              <a:t>customers?"</a:t>
            </a:r>
          </a:p>
        </p:txBody>
      </p:sp>
      <p:sp>
        <p:nvSpPr>
          <p:cNvPr id="7" name="Rounded Rectangle 6"/>
          <p:cNvSpPr/>
          <p:nvPr/>
        </p:nvSpPr>
        <p:spPr>
          <a:xfrm>
            <a:off x="3291840" y="2286000"/>
            <a:ext cx="2377440" cy="914400"/>
          </a:xfrm>
          <a:prstGeom prst="roundRect">
            <a:avLst/>
          </a:prstGeom>
          <a:solidFill>
            <a:srgbClr val="0E1E3F"/>
          </a:solidFill>
          <a:ln>
            <a:solidFill>
              <a:srgbClr val="0E1E3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LLM</a:t>
            </a:r>
            <a:br/>
            <a:r>
              <a:t>(decides)</a:t>
            </a:r>
          </a:p>
        </p:txBody>
      </p:sp>
      <p:sp>
        <p:nvSpPr>
          <p:cNvPr id="8" name="Rounded Rectangle 7"/>
          <p:cNvSpPr/>
          <p:nvPr/>
        </p:nvSpPr>
        <p:spPr>
          <a:xfrm>
            <a:off x="6035040" y="2286000"/>
            <a:ext cx="2560320" cy="91440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rPr dirty="0"/>
              <a:t>JSON tool call</a:t>
            </a:r>
            <a:br>
              <a:rPr dirty="0"/>
            </a:br>
            <a:r>
              <a:rPr dirty="0"/>
              <a:t>{"tool":"</a:t>
            </a:r>
            <a:r>
              <a:rPr dirty="0" err="1"/>
              <a:t>count_rows</a:t>
            </a:r>
            <a:r>
              <a:rPr dirty="0"/>
              <a:t>",</a:t>
            </a:r>
            <a:br>
              <a:rPr dirty="0"/>
            </a:br>
            <a:r>
              <a:rPr dirty="0"/>
              <a:t> "</a:t>
            </a:r>
            <a:r>
              <a:rPr dirty="0" err="1"/>
              <a:t>args</a:t>
            </a:r>
            <a:r>
              <a:rPr dirty="0"/>
              <a:t>":{"</a:t>
            </a:r>
            <a:r>
              <a:rPr dirty="0" err="1"/>
              <a:t>table":"customers</a:t>
            </a:r>
            <a:r>
              <a:rPr dirty="0"/>
              <a:t>"}}</a:t>
            </a:r>
          </a:p>
        </p:txBody>
      </p:sp>
      <p:sp>
        <p:nvSpPr>
          <p:cNvPr id="9" name="Rounded Rectangle 8"/>
          <p:cNvSpPr/>
          <p:nvPr/>
        </p:nvSpPr>
        <p:spPr>
          <a:xfrm>
            <a:off x="8961120" y="2286000"/>
            <a:ext cx="2651760" cy="914400"/>
          </a:xfrm>
          <a:prstGeom prst="roundRect">
            <a:avLst/>
          </a:prstGeom>
          <a:solidFill>
            <a:srgbClr val="4C6EF5"/>
          </a:solidFill>
          <a:ln>
            <a:solidFill>
              <a:srgbClr val="4C6EF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Your code runs</a:t>
            </a:r>
            <a:br/>
            <a:r>
              <a:t>the function</a:t>
            </a:r>
            <a:br/>
            <a:r>
              <a:t>-&gt; returns 800</a:t>
            </a:r>
          </a:p>
        </p:txBody>
      </p:sp>
      <p:cxnSp>
        <p:nvCxnSpPr>
          <p:cNvPr id="10" name="Connector 9"/>
          <p:cNvCxnSpPr/>
          <p:nvPr/>
        </p:nvCxnSpPr>
        <p:spPr>
          <a:xfrm>
            <a:off x="2926080" y="2743200"/>
            <a:ext cx="36576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69280" y="2743200"/>
            <a:ext cx="36576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595360" y="2743200"/>
            <a:ext cx="36576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4297680"/>
            <a:ext cx="11430000" cy="365760"/>
          </a:xfrm>
          <a:prstGeom prst="rect">
            <a:avLst/>
          </a:prstGeom>
          <a:noFill/>
        </p:spPr>
        <p:txBody>
          <a:bodyPr wrap="square">
            <a:spAutoFit/>
          </a:bodyPr>
          <a:lstStyle/>
          <a:p>
            <a:pPr algn="ctr">
              <a:defRPr sz="1300" i="1">
                <a:solidFill>
                  <a:srgbClr val="666666"/>
                </a:solidFill>
              </a:defRPr>
            </a:pPr>
            <a:r>
              <a:t>LLM sees "800" -&gt; drafts the final answer -&gt; user reads it</a:t>
            </a:r>
          </a:p>
        </p:txBody>
      </p:sp>
      <p:sp>
        <p:nvSpPr>
          <p:cNvPr id="15" name="TextBox 14"/>
          <p:cNvSpPr txBox="1"/>
          <p:nvPr/>
        </p:nvSpPr>
        <p:spPr>
          <a:xfrm>
            <a:off x="548640" y="5120640"/>
            <a:ext cx="11430000" cy="548640"/>
          </a:xfrm>
          <a:prstGeom prst="rect">
            <a:avLst/>
          </a:prstGeom>
          <a:noFill/>
        </p:spPr>
        <p:txBody>
          <a:bodyPr wrap="square">
            <a:spAutoFit/>
          </a:bodyPr>
          <a:lstStyle/>
          <a:p>
            <a:pPr algn="ctr">
              <a:defRPr sz="1400" i="0">
                <a:solidFill>
                  <a:srgbClr val="0E1E3F"/>
                </a:solidFill>
              </a:defRPr>
            </a:pPr>
            <a:r>
              <a:t>Key idea: the LLM does NOT execute your code. It emits a JSON request.</a:t>
            </a:r>
            <a:br/>
            <a:r>
              <a:t>Your Python decides whether to run it. This is where guardrails live.</a:t>
            </a:r>
          </a:p>
        </p:txBody>
      </p:sp>
      <p:sp>
        <p:nvSpPr>
          <p:cNvPr id="16" name="Rectangle 15"/>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8" name="TextBox 17"/>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10 / 30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PRIMER</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What is a ReAct loop?</a:t>
            </a:r>
          </a:p>
        </p:txBody>
      </p:sp>
      <p:sp>
        <p:nvSpPr>
          <p:cNvPr id="5" name="TextBox 4"/>
          <p:cNvSpPr txBox="1"/>
          <p:nvPr/>
        </p:nvSpPr>
        <p:spPr>
          <a:xfrm>
            <a:off x="548640" y="777240"/>
            <a:ext cx="11064240" cy="457200"/>
          </a:xfrm>
          <a:prstGeom prst="rect">
            <a:avLst/>
          </a:prstGeom>
          <a:noFill/>
        </p:spPr>
        <p:txBody>
          <a:bodyPr wrap="none">
            <a:spAutoFit/>
          </a:bodyPr>
          <a:lstStyle/>
          <a:p>
            <a:pPr>
              <a:defRPr sz="1500" i="1">
                <a:solidFill>
                  <a:srgbClr val="666666"/>
                </a:solidFill>
              </a:defRPr>
            </a:pPr>
            <a:r>
              <a:t>The pattern that makes an LLM behave like an agent.</a:t>
            </a:r>
          </a:p>
        </p:txBody>
      </p:sp>
      <p:sp>
        <p:nvSpPr>
          <p:cNvPr id="6" name="Rounded Rectangle 5"/>
          <p:cNvSpPr/>
          <p:nvPr/>
        </p:nvSpPr>
        <p:spPr>
          <a:xfrm>
            <a:off x="4809744" y="3017520"/>
            <a:ext cx="2560320" cy="914400"/>
          </a:xfrm>
          <a:prstGeom prst="roundRect">
            <a:avLst/>
          </a:prstGeom>
          <a:solidFill>
            <a:srgbClr val="0E1E3F"/>
          </a:solidFill>
          <a:ln>
            <a:solidFill>
              <a:srgbClr val="0E1E3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600" b="1">
                <a:solidFill>
                  <a:srgbClr val="FFFFFF"/>
                </a:solidFill>
              </a:defRPr>
            </a:pPr>
            <a:r>
              <a:t>LLM</a:t>
            </a:r>
            <a:br/>
            <a:r>
              <a:t>(think)</a:t>
            </a:r>
          </a:p>
        </p:txBody>
      </p:sp>
      <p:sp>
        <p:nvSpPr>
          <p:cNvPr id="7" name="Rounded Rectangle 6"/>
          <p:cNvSpPr/>
          <p:nvPr/>
        </p:nvSpPr>
        <p:spPr>
          <a:xfrm>
            <a:off x="731520" y="1463040"/>
            <a:ext cx="2743200" cy="77724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User question</a:t>
            </a:r>
          </a:p>
        </p:txBody>
      </p:sp>
      <p:sp>
        <p:nvSpPr>
          <p:cNvPr id="8" name="Rounded Rectangle 7"/>
          <p:cNvSpPr/>
          <p:nvPr/>
        </p:nvSpPr>
        <p:spPr>
          <a:xfrm>
            <a:off x="8686800" y="1463040"/>
            <a:ext cx="2743200" cy="77724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Final answer</a:t>
            </a:r>
          </a:p>
        </p:txBody>
      </p:sp>
      <p:sp>
        <p:nvSpPr>
          <p:cNvPr id="9" name="Rounded Rectangle 8"/>
          <p:cNvSpPr/>
          <p:nvPr/>
        </p:nvSpPr>
        <p:spPr>
          <a:xfrm>
            <a:off x="731520" y="4754880"/>
            <a:ext cx="2743200" cy="868680"/>
          </a:xfrm>
          <a:prstGeom prst="roundRect">
            <a:avLst/>
          </a:prstGeom>
          <a:solidFill>
            <a:srgbClr val="4C6EF5"/>
          </a:solidFill>
          <a:ln>
            <a:solidFill>
              <a:srgbClr val="4C6EF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200" b="1">
                <a:solidFill>
                  <a:srgbClr val="FFFFFF"/>
                </a:solidFill>
              </a:defRPr>
            </a:pPr>
            <a:r>
              <a:t>Tool CALL</a:t>
            </a:r>
            <a:br/>
            <a:r>
              <a:t>(JSON request)</a:t>
            </a:r>
          </a:p>
        </p:txBody>
      </p:sp>
      <p:sp>
        <p:nvSpPr>
          <p:cNvPr id="10" name="Rounded Rectangle 9"/>
          <p:cNvSpPr/>
          <p:nvPr/>
        </p:nvSpPr>
        <p:spPr>
          <a:xfrm>
            <a:off x="8686800" y="4754880"/>
            <a:ext cx="2743200" cy="86868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200" b="1">
                <a:solidFill>
                  <a:srgbClr val="FFFFFF"/>
                </a:solidFill>
              </a:defRPr>
            </a:pPr>
            <a:r>
              <a:t>Tool RESULT</a:t>
            </a:r>
            <a:br/>
            <a:r>
              <a:t>(observation)</a:t>
            </a:r>
          </a:p>
        </p:txBody>
      </p:sp>
      <p:cxnSp>
        <p:nvCxnSpPr>
          <p:cNvPr id="11" name="Connector 10"/>
          <p:cNvCxnSpPr/>
          <p:nvPr/>
        </p:nvCxnSpPr>
        <p:spPr>
          <a:xfrm>
            <a:off x="2103120" y="2240280"/>
            <a:ext cx="3108960" cy="86868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468880" y="3840480"/>
            <a:ext cx="2743200" cy="91440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474720" y="5166360"/>
            <a:ext cx="521208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6949440" y="3840480"/>
            <a:ext cx="2011680" cy="91440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949440" y="2240280"/>
            <a:ext cx="3108960" cy="86868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5897880"/>
            <a:ext cx="11430000" cy="457200"/>
          </a:xfrm>
          <a:prstGeom prst="rect">
            <a:avLst/>
          </a:prstGeom>
          <a:noFill/>
        </p:spPr>
        <p:txBody>
          <a:bodyPr wrap="square">
            <a:spAutoFit/>
          </a:bodyPr>
          <a:lstStyle/>
          <a:p>
            <a:pPr algn="ctr">
              <a:defRPr sz="1400" i="1">
                <a:solidFill>
                  <a:srgbClr val="0E1E3F"/>
                </a:solidFill>
              </a:defRPr>
            </a:pPr>
            <a:r>
              <a:t>Loop: think -&gt; act -&gt; observe -&gt; think ... until the LLM has enough to answer. LangGraph handles the wiring.</a:t>
            </a:r>
          </a:p>
        </p:txBody>
      </p:sp>
      <p:sp>
        <p:nvSpPr>
          <p:cNvPr id="17" name="Rectangle 16"/>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9" name="TextBox 18"/>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11 / 30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2</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Chat agent -- ReAct loop + memory</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An agent that picks tools on its own AND remembers prior turns.</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create_react_agent runs think-&gt;act-&gt;observe for you -- no manual loop.</a:t>
            </a:r>
          </a:p>
          <a:p>
            <a:pPr>
              <a:spcAft>
                <a:spcPts val="200"/>
              </a:spcAft>
              <a:defRPr sz="1500">
                <a:solidFill>
                  <a:srgbClr val="0E1E3F"/>
                </a:solidFill>
              </a:defRPr>
            </a:pPr>
            <a:r>
              <a:t>• InMemorySaver + thread_id = per-session memory for follow-up questions.</a:t>
            </a:r>
          </a:p>
          <a:p>
            <a:pPr>
              <a:spcAft>
                <a:spcPts val="200"/>
              </a:spcAft>
              <a:defRPr sz="1500">
                <a:solidFill>
                  <a:srgbClr val="0E1E3F"/>
                </a:solidFill>
              </a:defRPr>
            </a:pPr>
            <a:r>
              <a:t>• System prompt forces schema discovery before any SELECT.</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 student/app/llm.py -- ChatGroq factory</a:t>
            </a:r>
          </a:p>
          <a:p>
            <a:pPr>
              <a:spcAft>
                <a:spcPts val="200"/>
              </a:spcAft>
              <a:defRPr sz="1500">
                <a:solidFill>
                  <a:srgbClr val="0E1E3F"/>
                </a:solidFill>
              </a:defRPr>
            </a:pPr>
            <a:r>
              <a:t>• student/app/chat_agent.py -- the agent + ask() entry point</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"how many customers?" -&gt; 800.  Follow up "and orders?" -&gt; 4 000.</a:t>
            </a:r>
          </a:p>
        </p:txBody>
      </p:sp>
      <p:sp>
        <p:nvSpPr>
          <p:cNvPr id="13" name="Rectangle 12"/>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12 / 30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PRIMER</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What is a guardrail?</a:t>
            </a:r>
          </a:p>
        </p:txBody>
      </p:sp>
      <p:sp>
        <p:nvSpPr>
          <p:cNvPr id="5" name="TextBox 4"/>
          <p:cNvSpPr txBox="1"/>
          <p:nvPr/>
        </p:nvSpPr>
        <p:spPr>
          <a:xfrm>
            <a:off x="548640" y="777240"/>
            <a:ext cx="11064240" cy="457200"/>
          </a:xfrm>
          <a:prstGeom prst="rect">
            <a:avLst/>
          </a:prstGeom>
          <a:noFill/>
        </p:spPr>
        <p:txBody>
          <a:bodyPr wrap="none">
            <a:spAutoFit/>
          </a:bodyPr>
          <a:lstStyle/>
          <a:p>
            <a:pPr>
              <a:defRPr sz="1500" i="1">
                <a:solidFill>
                  <a:srgbClr val="666666"/>
                </a:solidFill>
              </a:defRPr>
            </a:pPr>
            <a:r>
              <a:t>Two layers of defence between the LLM and your database.</a:t>
            </a:r>
          </a:p>
        </p:txBody>
      </p:sp>
      <p:sp>
        <p:nvSpPr>
          <p:cNvPr id="6" name="Rounded Rectangle 5"/>
          <p:cNvSpPr/>
          <p:nvPr/>
        </p:nvSpPr>
        <p:spPr>
          <a:xfrm>
            <a:off x="731520" y="2286000"/>
            <a:ext cx="2560320" cy="91440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Agent</a:t>
            </a:r>
            <a:br/>
            <a:r>
              <a:t>emits SQL</a:t>
            </a:r>
          </a:p>
        </p:txBody>
      </p:sp>
      <p:sp>
        <p:nvSpPr>
          <p:cNvPr id="7" name="Rounded Rectangle 6"/>
          <p:cNvSpPr/>
          <p:nvPr/>
        </p:nvSpPr>
        <p:spPr>
          <a:xfrm>
            <a:off x="3840480" y="2286000"/>
            <a:ext cx="2926080" cy="91440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Guardrail wrapper</a:t>
            </a:r>
            <a:br/>
            <a:r>
              <a:t>(your Python)</a:t>
            </a:r>
          </a:p>
        </p:txBody>
      </p:sp>
      <p:sp>
        <p:nvSpPr>
          <p:cNvPr id="8" name="Rounded Rectangle 7"/>
          <p:cNvSpPr/>
          <p:nvPr/>
        </p:nvSpPr>
        <p:spPr>
          <a:xfrm>
            <a:off x="7315200" y="2286000"/>
            <a:ext cx="2377440" cy="914400"/>
          </a:xfrm>
          <a:prstGeom prst="roundRect">
            <a:avLst/>
          </a:prstGeom>
          <a:solidFill>
            <a:srgbClr val="4C6EF5"/>
          </a:solidFill>
          <a:ln>
            <a:solidFill>
              <a:srgbClr val="4C6EF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MCP tool</a:t>
            </a:r>
            <a:br/>
            <a:r>
              <a:t>read_query</a:t>
            </a:r>
          </a:p>
        </p:txBody>
      </p:sp>
      <p:cxnSp>
        <p:nvCxnSpPr>
          <p:cNvPr id="9" name="Connector 8"/>
          <p:cNvCxnSpPr/>
          <p:nvPr/>
        </p:nvCxnSpPr>
        <p:spPr>
          <a:xfrm>
            <a:off x="3291840" y="2743200"/>
            <a:ext cx="54864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766560" y="2743200"/>
            <a:ext cx="54864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68680" y="3986265"/>
            <a:ext cx="5212080" cy="822960"/>
          </a:xfrm>
          <a:prstGeom prst="roundRect">
            <a:avLst/>
          </a:prstGeom>
          <a:solidFill>
            <a:srgbClr val="C0392B"/>
          </a:solidFill>
          <a:ln>
            <a:solidFill>
              <a:srgbClr val="C0392B"/>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DROP TABLE customers   -&gt;  X  BLOCKED</a:t>
            </a:r>
          </a:p>
        </p:txBody>
      </p:sp>
      <p:sp>
        <p:nvSpPr>
          <p:cNvPr id="12" name="Rounded Rectangle 11"/>
          <p:cNvSpPr/>
          <p:nvPr/>
        </p:nvSpPr>
        <p:spPr>
          <a:xfrm>
            <a:off x="6400800" y="3931920"/>
            <a:ext cx="5212080" cy="822960"/>
          </a:xfrm>
          <a:prstGeom prst="roundRect">
            <a:avLst/>
          </a:prstGeom>
          <a:solidFill>
            <a:srgbClr val="2EA04F"/>
          </a:solidFill>
          <a:ln>
            <a:solidFill>
              <a:srgbClr val="2EA04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SELECT * FROM orders   -&gt;  + LIMIT 1000  OK</a:t>
            </a:r>
          </a:p>
        </p:txBody>
      </p:sp>
      <p:sp>
        <p:nvSpPr>
          <p:cNvPr id="13" name="TextBox 12"/>
          <p:cNvSpPr txBox="1"/>
          <p:nvPr/>
        </p:nvSpPr>
        <p:spPr>
          <a:xfrm>
            <a:off x="548640" y="5120640"/>
            <a:ext cx="11430000" cy="1097280"/>
          </a:xfrm>
          <a:prstGeom prst="rect">
            <a:avLst/>
          </a:prstGeom>
          <a:noFill/>
        </p:spPr>
        <p:txBody>
          <a:bodyPr wrap="square">
            <a:spAutoFit/>
          </a:bodyPr>
          <a:lstStyle/>
          <a:p>
            <a:pPr algn="ctr">
              <a:defRPr sz="1400" i="1">
                <a:solidFill>
                  <a:srgbClr val="0E1E3F"/>
                </a:solidFill>
              </a:defRPr>
            </a:pPr>
            <a:r>
              <a:t>Two layers: (1) tool whitelist hides write_query / drop entirely.</a:t>
            </a:r>
            <a:br/>
            <a:r>
              <a:t>(2) read_query wrapper rejects DDL/DML, multi-statement queries, and auto-injects LIMIT 1000.</a:t>
            </a:r>
          </a:p>
        </p:txBody>
      </p:sp>
      <p:sp>
        <p:nvSpPr>
          <p:cNvPr id="14" name="Rectangle 13"/>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6" name="TextBox 15"/>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13 / 30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3</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Guardrails -- block destructive SQL</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Make the agent physically incapable of writing or dropping.</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Layer 1: tool whitelist removes write_query / create_table from the agent's view.</a:t>
            </a:r>
          </a:p>
          <a:p>
            <a:pPr>
              <a:spcAft>
                <a:spcPts val="200"/>
              </a:spcAft>
              <a:defRPr sz="1500">
                <a:solidFill>
                  <a:srgbClr val="0E1E3F"/>
                </a:solidFill>
              </a:defRPr>
            </a:pPr>
            <a:r>
              <a:t>• Layer 2: wrap read_query to reject DDL/DML, multi-statement, auto-LIMIT 1000.</a:t>
            </a:r>
          </a:p>
          <a:p>
            <a:pPr>
              <a:spcAft>
                <a:spcPts val="200"/>
              </a:spcAft>
              <a:defRPr sz="1500">
                <a:solidFill>
                  <a:srgbClr val="0E1E3F"/>
                </a:solidFill>
              </a:defRPr>
            </a:pPr>
            <a:r>
              <a:t>• 11 unit tests in tests/test_guardrails.py keep both layers honest.</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 student/app/guardrails.py</a:t>
            </a:r>
          </a:p>
          <a:p>
            <a:pPr>
              <a:spcAft>
                <a:spcPts val="200"/>
              </a:spcAft>
              <a:defRPr sz="1500">
                <a:solidFill>
                  <a:srgbClr val="0E1E3F"/>
                </a:solidFill>
              </a:defRPr>
            </a:pPr>
            <a:r>
              <a:t>• Wire-in step inside chat_agent.py</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"drop table customers" -&gt; GUARDRAIL BLOCK in the chat; agent retries with a safe query.</a:t>
            </a:r>
          </a:p>
        </p:txBody>
      </p:sp>
      <p:sp>
        <p:nvSpPr>
          <p:cNvPr id="13" name="Rectangle 12"/>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14 / 30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4</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Charts -- auto line / bar / nothing</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Pick the right Plotly chart for any result table without asking the LLM.</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Pattern-match the dataframe's shape, not the question.</a:t>
            </a:r>
          </a:p>
          <a:p>
            <a:pPr>
              <a:spcAft>
                <a:spcPts val="200"/>
              </a:spcAft>
              <a:defRPr sz="1500">
                <a:solidFill>
                  <a:srgbClr val="0E1E3F"/>
                </a:solidFill>
              </a:defRPr>
            </a:pPr>
            <a:r>
              <a:t>• Date x number -&gt; line. 2-25 categories -&gt; bar. Scalar / &gt;25 cats -&gt; no chart.</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 student/app/charts.py (auto_chart function)</a:t>
            </a:r>
          </a:p>
          <a:p>
            <a:pPr>
              <a:spcAft>
                <a:spcPts val="200"/>
              </a:spcAft>
              <a:defRPr sz="1500">
                <a:solidFill>
                  <a:srgbClr val="0E1E3F"/>
                </a:solidFill>
              </a:defRPr>
            </a:pPr>
            <a:r>
              <a:t>• Hook in streamlit_app.py after the agent returns rows</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"top 5 categories by revenue" -&gt; bar chart appears under the table.</a:t>
            </a:r>
          </a:p>
        </p:txBody>
      </p:sp>
      <p:sp>
        <p:nvSpPr>
          <p:cNvPr id="13" name="Rectangle 12"/>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15 / 30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5</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Configuration tour -- swap your warehouse</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Understand the integration surface so production swap-ins take 4 lines.</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mcp.json is THE seam. Env-var substitution (${SHOPFLOW_DB}) keeps secrets out of git.</a:t>
            </a:r>
          </a:p>
          <a:p>
            <a:pPr>
              <a:spcAft>
                <a:spcPts val="200"/>
              </a:spcAft>
              <a:defRPr sz="1500">
                <a:solidFill>
                  <a:srgbClr val="0E1E3F"/>
                </a:solidFill>
              </a:defRPr>
            </a:pPr>
            <a:r>
              <a:t>• Same Python code talks to SQLite today, Postgres tomorrow -- only mcp.json changes.</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student/app/config/mcp.json (we only READ it in this module)</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You can describe out loud the 4-line diff to point at a Postgres warehouse.</a:t>
            </a:r>
          </a:p>
        </p:txBody>
      </p:sp>
      <p:sp>
        <p:nvSpPr>
          <p:cNvPr id="13" name="Rectangle 12"/>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16 / 30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548640"/>
          </a:xfrm>
          <a:prstGeom prst="rect">
            <a:avLst/>
          </a:prstGeom>
          <a:noFill/>
        </p:spPr>
        <p:txBody>
          <a:bodyPr wrap="none">
            <a:spAutoFit/>
          </a:bodyPr>
          <a:lstStyle/>
          <a:p>
            <a:pPr>
              <a:defRPr sz="2800" b="1">
                <a:solidFill>
                  <a:srgbClr val="FFFFFF"/>
                </a:solidFill>
              </a:defRPr>
            </a:pPr>
            <a:r>
              <a:t>Phase 1 -- exit criteria</a:t>
            </a:r>
          </a:p>
        </p:txBody>
      </p:sp>
      <p:sp>
        <p:nvSpPr>
          <p:cNvPr id="4" name="TextBox 3"/>
          <p:cNvSpPr txBox="1"/>
          <p:nvPr/>
        </p:nvSpPr>
        <p:spPr>
          <a:xfrm>
            <a:off x="548640" y="914400"/>
            <a:ext cx="10972800" cy="5486400"/>
          </a:xfrm>
          <a:prstGeom prst="rect">
            <a:avLst/>
          </a:prstGeom>
          <a:noFill/>
        </p:spPr>
        <p:txBody>
          <a:bodyPr wrap="square">
            <a:spAutoFit/>
          </a:bodyPr>
          <a:lstStyle/>
          <a:p>
            <a:pPr>
              <a:defRPr sz="2000">
                <a:solidFill>
                  <a:srgbClr val="0E1E3F"/>
                </a:solidFill>
              </a:defRPr>
            </a:pPr>
            <a:r>
              <a:t>• Streamlit + ReAct agent + one MCP server + guardrail + charts</a:t>
            </a:r>
          </a:p>
          <a:p>
            <a:pPr>
              <a:defRPr sz="2000">
                <a:solidFill>
                  <a:srgbClr val="0E1E3F"/>
                </a:solidFill>
              </a:defRPr>
            </a:pPr>
            <a:r>
              <a:t>• 11 guardrail unit tests green</a:t>
            </a:r>
          </a:p>
          <a:p>
            <a:pPr>
              <a:defRPr sz="2000">
                <a:solidFill>
                  <a:srgbClr val="0E1E3F"/>
                </a:solidFill>
              </a:defRPr>
            </a:pPr>
            <a:r>
              <a:t>• Smoke: schema discovery + follow-up memory + attack blocked</a:t>
            </a:r>
          </a:p>
          <a:p>
            <a:pPr>
              <a:defRPr sz="2000">
                <a:solidFill>
                  <a:srgbClr val="0E1E3F"/>
                </a:solidFill>
              </a:defRPr>
            </a:pPr>
            <a:r>
              <a:t>• Repo stays clean and demoable</a:t>
            </a:r>
          </a:p>
        </p:txBody>
      </p:sp>
      <p:sp>
        <p:nvSpPr>
          <p:cNvPr id="5" name="Rectangle 4"/>
          <p:cNvSpPr/>
          <p:nvPr/>
        </p:nvSpPr>
        <p:spPr>
          <a:xfrm>
            <a:off x="0" y="6675120"/>
            <a:ext cx="12188952"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7" name="TextBox 6"/>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17 / 30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E3F"/>
        </a:solidFill>
        <a:effectLst/>
      </p:bgPr>
    </p:bg>
    <p:spTree>
      <p:nvGrpSpPr>
        <p:cNvPr id="1" name=""/>
        <p:cNvGrpSpPr/>
        <p:nvPr/>
      </p:nvGrpSpPr>
      <p:grpSpPr>
        <a:xfrm>
          <a:off x="0" y="0"/>
          <a:ext cx="0" cy="0"/>
          <a:chOff x="0" y="0"/>
          <a:chExt cx="0" cy="0"/>
        </a:xfrm>
      </p:grpSpPr>
      <p:sp>
        <p:nvSpPr>
          <p:cNvPr id="2" name="TextBox 1"/>
          <p:cNvSpPr txBox="1"/>
          <p:nvPr/>
        </p:nvSpPr>
        <p:spPr>
          <a:xfrm>
            <a:off x="548640" y="2194560"/>
            <a:ext cx="11430000" cy="1828800"/>
          </a:xfrm>
          <a:prstGeom prst="rect">
            <a:avLst/>
          </a:prstGeom>
          <a:noFill/>
        </p:spPr>
        <p:txBody>
          <a:bodyPr wrap="none">
            <a:spAutoFit/>
          </a:bodyPr>
          <a:lstStyle/>
          <a:p>
            <a:pPr>
              <a:defRPr sz="5400" b="1">
                <a:solidFill>
                  <a:srgbClr val="FFFFFF"/>
                </a:solidFill>
              </a:defRPr>
            </a:pPr>
            <a:r>
              <a:t>Phase 2</a:t>
            </a:r>
          </a:p>
          <a:p>
            <a:pPr>
              <a:defRPr sz="2200">
                <a:solidFill>
                  <a:srgbClr val="4C6EF5"/>
                </a:solidFill>
              </a:defRPr>
            </a:pPr>
            <a:r>
              <a:t>Platform -- author two in-house MCP servers</a:t>
            </a:r>
          </a:p>
        </p:txBody>
      </p:sp>
      <p:sp>
        <p:nvSpPr>
          <p:cNvPr id="3" name="TextBox 2"/>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4" name="TextBox 3"/>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18 / 30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6</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Recap -- pin a clean baseline</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Re-launch, smoke 4 questions, confirm Phase 1 still works.</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Always pin a stable baseline before adding scope.</a:t>
            </a:r>
          </a:p>
          <a:p>
            <a:pPr>
              <a:spcAft>
                <a:spcPts val="200"/>
              </a:spcAft>
              <a:defRPr sz="1500">
                <a:solidFill>
                  <a:srgbClr val="0E1E3F"/>
                </a:solidFill>
              </a:defRPr>
            </a:pPr>
            <a:r>
              <a:t>• If smoke fails, fix Phase 1 first -- don't pile new code on broken old code.</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No code changes -- run.ps1 + browser smoke only</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All 4 smoke questions pass (count, follow-up, chart, guardrail).</a:t>
            </a:r>
          </a:p>
        </p:txBody>
      </p:sp>
      <p:sp>
        <p:nvSpPr>
          <p:cNvPr id="13" name="Rectangle 12"/>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19 / 30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PRIMER</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Consuming vs publishing MCP</a:t>
            </a:r>
          </a:p>
        </p:txBody>
      </p:sp>
      <p:sp>
        <p:nvSpPr>
          <p:cNvPr id="5" name="TextBox 4"/>
          <p:cNvSpPr txBox="1"/>
          <p:nvPr/>
        </p:nvSpPr>
        <p:spPr>
          <a:xfrm>
            <a:off x="548640" y="777240"/>
            <a:ext cx="11064240" cy="457200"/>
          </a:xfrm>
          <a:prstGeom prst="rect">
            <a:avLst/>
          </a:prstGeom>
          <a:noFill/>
        </p:spPr>
        <p:txBody>
          <a:bodyPr wrap="none">
            <a:spAutoFit/>
          </a:bodyPr>
          <a:lstStyle/>
          <a:p>
            <a:pPr>
              <a:defRPr sz="1500" i="1">
                <a:solidFill>
                  <a:srgbClr val="666666"/>
                </a:solidFill>
              </a:defRPr>
            </a:pPr>
            <a:r>
              <a:t>Phase 1 you used a server. Phase 2 you build them.</a:t>
            </a:r>
          </a:p>
        </p:txBody>
      </p:sp>
      <p:sp>
        <p:nvSpPr>
          <p:cNvPr id="6" name="TextBox 5"/>
          <p:cNvSpPr txBox="1"/>
          <p:nvPr/>
        </p:nvSpPr>
        <p:spPr>
          <a:xfrm>
            <a:off x="548640" y="1463040"/>
            <a:ext cx="5486400" cy="365760"/>
          </a:xfrm>
          <a:prstGeom prst="rect">
            <a:avLst/>
          </a:prstGeom>
          <a:noFill/>
        </p:spPr>
        <p:txBody>
          <a:bodyPr wrap="square">
            <a:spAutoFit/>
          </a:bodyPr>
          <a:lstStyle/>
          <a:p>
            <a:pPr algn="ctr">
              <a:defRPr sz="1600" i="0">
                <a:solidFill>
                  <a:srgbClr val="FFA500"/>
                </a:solidFill>
              </a:defRPr>
            </a:pPr>
            <a:r>
              <a:t>Phase 1  --  you were the CLIENT</a:t>
            </a:r>
          </a:p>
        </p:txBody>
      </p:sp>
      <p:sp>
        <p:nvSpPr>
          <p:cNvPr id="7" name="Rounded Rectangle 6"/>
          <p:cNvSpPr/>
          <p:nvPr/>
        </p:nvSpPr>
        <p:spPr>
          <a:xfrm>
            <a:off x="548640" y="1920240"/>
            <a:ext cx="5486400" cy="82296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Your agent</a:t>
            </a:r>
          </a:p>
        </p:txBody>
      </p:sp>
      <p:cxnSp>
        <p:nvCxnSpPr>
          <p:cNvPr id="8" name="Connector 7"/>
          <p:cNvCxnSpPr/>
          <p:nvPr/>
        </p:nvCxnSpPr>
        <p:spPr>
          <a:xfrm>
            <a:off x="3291840" y="2743200"/>
            <a:ext cx="0" cy="54864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3291840"/>
            <a:ext cx="5486400" cy="822960"/>
          </a:xfrm>
          <a:prstGeom prst="roundRect">
            <a:avLst/>
          </a:prstGeom>
          <a:solidFill>
            <a:srgbClr val="4C6EF5"/>
          </a:solidFill>
          <a:ln>
            <a:solidFill>
              <a:srgbClr val="4C6EF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Someone else's MCP server</a:t>
            </a:r>
            <a:br/>
            <a:r>
              <a:t>(mcp-server-sqlite)</a:t>
            </a:r>
          </a:p>
        </p:txBody>
      </p:sp>
      <p:cxnSp>
        <p:nvCxnSpPr>
          <p:cNvPr id="10" name="Connector 9"/>
          <p:cNvCxnSpPr/>
          <p:nvPr/>
        </p:nvCxnSpPr>
        <p:spPr>
          <a:xfrm>
            <a:off x="6089904" y="1280160"/>
            <a:ext cx="0" cy="4663440"/>
          </a:xfrm>
          <a:prstGeom prst="line">
            <a:avLst/>
          </a:prstGeom>
          <a:ln w="19050">
            <a:solidFill>
              <a:srgbClr val="66666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0" y="1463040"/>
            <a:ext cx="5486400" cy="365760"/>
          </a:xfrm>
          <a:prstGeom prst="rect">
            <a:avLst/>
          </a:prstGeom>
          <a:noFill/>
        </p:spPr>
        <p:txBody>
          <a:bodyPr wrap="square">
            <a:spAutoFit/>
          </a:bodyPr>
          <a:lstStyle/>
          <a:p>
            <a:pPr algn="ctr">
              <a:defRPr sz="1600" i="0">
                <a:solidFill>
                  <a:srgbClr val="4C6EF5"/>
                </a:solidFill>
              </a:defRPr>
            </a:pPr>
            <a:r>
              <a:t>Phase 2  --  you become the SERVER</a:t>
            </a:r>
          </a:p>
        </p:txBody>
      </p:sp>
      <p:sp>
        <p:nvSpPr>
          <p:cNvPr id="12" name="Rounded Rectangle 11"/>
          <p:cNvSpPr/>
          <p:nvPr/>
        </p:nvSpPr>
        <p:spPr>
          <a:xfrm>
            <a:off x="6400800" y="1920240"/>
            <a:ext cx="5486400" cy="82296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Any agent (yours, Claude, Cursor, ...)</a:t>
            </a:r>
          </a:p>
        </p:txBody>
      </p:sp>
      <p:cxnSp>
        <p:nvCxnSpPr>
          <p:cNvPr id="13" name="Connector 12"/>
          <p:cNvCxnSpPr/>
          <p:nvPr/>
        </p:nvCxnSpPr>
        <p:spPr>
          <a:xfrm>
            <a:off x="9144000" y="2743200"/>
            <a:ext cx="0" cy="54864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0" y="3291840"/>
            <a:ext cx="5486400" cy="82296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YOUR MCP server</a:t>
            </a:r>
            <a:br/>
            <a:r>
              <a:t>datapilot-dq  +  datapilot-rag</a:t>
            </a:r>
          </a:p>
        </p:txBody>
      </p:sp>
      <p:sp>
        <p:nvSpPr>
          <p:cNvPr id="15" name="TextBox 14"/>
          <p:cNvSpPr txBox="1"/>
          <p:nvPr/>
        </p:nvSpPr>
        <p:spPr>
          <a:xfrm>
            <a:off x="548640" y="5120640"/>
            <a:ext cx="11430000" cy="1097280"/>
          </a:xfrm>
          <a:prstGeom prst="rect">
            <a:avLst/>
          </a:prstGeom>
          <a:noFill/>
        </p:spPr>
        <p:txBody>
          <a:bodyPr wrap="square">
            <a:spAutoFit/>
          </a:bodyPr>
          <a:lstStyle/>
          <a:p>
            <a:pPr algn="ctr">
              <a:defRPr sz="1400" i="1">
                <a:solidFill>
                  <a:srgbClr val="0E1E3F"/>
                </a:solidFill>
              </a:defRPr>
            </a:pPr>
            <a:r>
              <a:t>Same MCP protocol on both sides. Today you publish two servers that</a:t>
            </a:r>
            <a:br/>
            <a:r>
              <a:t>the Streamlit app AND Claude Desktop will both call -- no client code changes.</a:t>
            </a:r>
          </a:p>
        </p:txBody>
      </p:sp>
      <p:sp>
        <p:nvSpPr>
          <p:cNvPr id="16" name="Rectangle 15"/>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8" name="TextBox 17"/>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20 / 30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PRIMER</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What is FastMCP?</a:t>
            </a:r>
          </a:p>
        </p:txBody>
      </p:sp>
      <p:sp>
        <p:nvSpPr>
          <p:cNvPr id="5" name="TextBox 4"/>
          <p:cNvSpPr txBox="1"/>
          <p:nvPr/>
        </p:nvSpPr>
        <p:spPr>
          <a:xfrm>
            <a:off x="548640" y="777240"/>
            <a:ext cx="11064240" cy="457200"/>
          </a:xfrm>
          <a:prstGeom prst="rect">
            <a:avLst/>
          </a:prstGeom>
          <a:noFill/>
        </p:spPr>
        <p:txBody>
          <a:bodyPr wrap="none">
            <a:spAutoFit/>
          </a:bodyPr>
          <a:lstStyle/>
          <a:p>
            <a:pPr>
              <a:defRPr sz="1500" i="1">
                <a:solidFill>
                  <a:srgbClr val="666666"/>
                </a:solidFill>
              </a:defRPr>
            </a:pPr>
            <a:r>
              <a:t>A decorator-based framework -- one @ turns a function into a tool.</a:t>
            </a:r>
          </a:p>
        </p:txBody>
      </p:sp>
      <p:sp>
        <p:nvSpPr>
          <p:cNvPr id="6" name="Rectangle 5"/>
          <p:cNvSpPr/>
          <p:nvPr/>
        </p:nvSpPr>
        <p:spPr>
          <a:xfrm>
            <a:off x="548640" y="1463040"/>
            <a:ext cx="6858000" cy="4114800"/>
          </a:xfrm>
          <a:prstGeom prst="rect">
            <a:avLst/>
          </a:prstGeom>
          <a:solidFill>
            <a:srgbClr val="1B1F33"/>
          </a:solidFill>
          <a:ln>
            <a:no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300">
                <a:solidFill>
                  <a:srgbClr val="E8EEF7"/>
                </a:solidFill>
                <a:latin typeface="Consolas" panose="020B0609020204030204"/>
              </a:defRPr>
            </a:pPr>
            <a:r>
              <a:rPr dirty="0"/>
              <a:t>from </a:t>
            </a:r>
            <a:r>
              <a:rPr dirty="0" err="1"/>
              <a:t>mcp.server.fastmcp</a:t>
            </a:r>
            <a:r>
              <a:rPr dirty="0"/>
              <a:t> import </a:t>
            </a:r>
            <a:r>
              <a:rPr dirty="0" err="1"/>
              <a:t>FastMCP</a:t>
            </a:r>
            <a:br>
              <a:rPr dirty="0"/>
            </a:br>
            <a:r>
              <a:rPr dirty="0" err="1"/>
              <a:t>mcp</a:t>
            </a:r>
            <a:r>
              <a:rPr dirty="0"/>
              <a:t> = </a:t>
            </a:r>
            <a:r>
              <a:rPr dirty="0" err="1"/>
              <a:t>FastMCP</a:t>
            </a:r>
            <a:r>
              <a:rPr dirty="0"/>
              <a:t>("</a:t>
            </a:r>
            <a:r>
              <a:rPr dirty="0" err="1"/>
              <a:t>datapilot-dq</a:t>
            </a:r>
            <a:r>
              <a:rPr dirty="0"/>
              <a:t>")</a:t>
            </a:r>
            <a:br>
              <a:rPr dirty="0"/>
            </a:br>
            <a:br>
              <a:rPr dirty="0"/>
            </a:br>
            <a:r>
              <a:rPr dirty="0"/>
              <a:t>@mcp.tool()</a:t>
            </a:r>
            <a:br>
              <a:rPr dirty="0"/>
            </a:br>
            <a:r>
              <a:rPr dirty="0"/>
              <a:t>def </a:t>
            </a:r>
            <a:r>
              <a:rPr dirty="0" err="1"/>
              <a:t>count_rows</a:t>
            </a:r>
            <a:r>
              <a:rPr dirty="0"/>
              <a:t>(table: str) -&gt; int:</a:t>
            </a:r>
            <a:br>
              <a:rPr dirty="0"/>
            </a:br>
            <a:r>
              <a:rPr dirty="0"/>
              <a:t>    """How many rows in this table?"""</a:t>
            </a:r>
            <a:br>
              <a:rPr dirty="0"/>
            </a:br>
            <a:r>
              <a:rPr dirty="0"/>
              <a:t>    return </a:t>
            </a:r>
            <a:r>
              <a:rPr dirty="0" err="1"/>
              <a:t>run_sql</a:t>
            </a:r>
            <a:r>
              <a:rPr dirty="0"/>
              <a:t>(</a:t>
            </a:r>
            <a:r>
              <a:rPr dirty="0" err="1"/>
              <a:t>f"SELECT</a:t>
            </a:r>
            <a:r>
              <a:rPr dirty="0"/>
              <a:t> COUNT(*) FROM {table}")</a:t>
            </a:r>
            <a:br>
              <a:rPr dirty="0"/>
            </a:br>
            <a:br>
              <a:rPr dirty="0"/>
            </a:br>
            <a:r>
              <a:rPr dirty="0"/>
              <a:t>if __name__ == "__main__":</a:t>
            </a:r>
            <a:br>
              <a:rPr dirty="0"/>
            </a:br>
            <a:r>
              <a:rPr dirty="0"/>
              <a:t>    </a:t>
            </a:r>
            <a:r>
              <a:rPr dirty="0" err="1"/>
              <a:t>mcp.run</a:t>
            </a:r>
            <a:r>
              <a:rPr dirty="0"/>
              <a:t>()</a:t>
            </a:r>
          </a:p>
        </p:txBody>
      </p:sp>
      <p:sp>
        <p:nvSpPr>
          <p:cNvPr id="7" name="TextBox 6"/>
          <p:cNvSpPr txBox="1"/>
          <p:nvPr/>
        </p:nvSpPr>
        <p:spPr>
          <a:xfrm>
            <a:off x="7680960" y="1554480"/>
            <a:ext cx="4114800" cy="365760"/>
          </a:xfrm>
          <a:prstGeom prst="rect">
            <a:avLst/>
          </a:prstGeom>
          <a:noFill/>
        </p:spPr>
        <p:txBody>
          <a:bodyPr wrap="square">
            <a:spAutoFit/>
          </a:bodyPr>
          <a:lstStyle/>
          <a:p>
            <a:pPr algn="l">
              <a:defRPr sz="1500" i="0">
                <a:solidFill>
                  <a:srgbClr val="FFA500"/>
                </a:solidFill>
              </a:defRPr>
            </a:pPr>
            <a:r>
              <a:t>@mcp.tool()</a:t>
            </a:r>
          </a:p>
        </p:txBody>
      </p:sp>
      <p:sp>
        <p:nvSpPr>
          <p:cNvPr id="8" name="TextBox 7"/>
          <p:cNvSpPr txBox="1"/>
          <p:nvPr/>
        </p:nvSpPr>
        <p:spPr>
          <a:xfrm>
            <a:off x="7680960" y="1920240"/>
            <a:ext cx="4297680" cy="914400"/>
          </a:xfrm>
          <a:prstGeom prst="rect">
            <a:avLst/>
          </a:prstGeom>
          <a:noFill/>
        </p:spPr>
        <p:txBody>
          <a:bodyPr wrap="square">
            <a:spAutoFit/>
          </a:bodyPr>
          <a:lstStyle/>
          <a:p>
            <a:pPr algn="l">
              <a:defRPr sz="1300" i="0">
                <a:solidFill>
                  <a:srgbClr val="666666"/>
                </a:solidFill>
              </a:defRPr>
            </a:pPr>
            <a:r>
              <a:rPr dirty="0"/>
              <a:t>Turns a Python function into a discoverable MCP tool. Type hints + docstring become the tool's schema for the LLM.</a:t>
            </a:r>
          </a:p>
        </p:txBody>
      </p:sp>
      <p:sp>
        <p:nvSpPr>
          <p:cNvPr id="9" name="TextBox 8"/>
          <p:cNvSpPr txBox="1"/>
          <p:nvPr/>
        </p:nvSpPr>
        <p:spPr>
          <a:xfrm>
            <a:off x="7680960" y="3017520"/>
            <a:ext cx="4114800" cy="365760"/>
          </a:xfrm>
          <a:prstGeom prst="rect">
            <a:avLst/>
          </a:prstGeom>
          <a:noFill/>
        </p:spPr>
        <p:txBody>
          <a:bodyPr wrap="square">
            <a:spAutoFit/>
          </a:bodyPr>
          <a:lstStyle/>
          <a:p>
            <a:pPr algn="l">
              <a:defRPr sz="1500" i="0">
                <a:solidFill>
                  <a:srgbClr val="FFA500"/>
                </a:solidFill>
              </a:defRPr>
            </a:pPr>
            <a:r>
              <a:t>mcp.run()</a:t>
            </a:r>
          </a:p>
        </p:txBody>
      </p:sp>
      <p:sp>
        <p:nvSpPr>
          <p:cNvPr id="10" name="TextBox 9"/>
          <p:cNvSpPr txBox="1"/>
          <p:nvPr/>
        </p:nvSpPr>
        <p:spPr>
          <a:xfrm>
            <a:off x="7680960" y="3383280"/>
            <a:ext cx="4297680" cy="914400"/>
          </a:xfrm>
          <a:prstGeom prst="rect">
            <a:avLst/>
          </a:prstGeom>
          <a:noFill/>
        </p:spPr>
        <p:txBody>
          <a:bodyPr wrap="square">
            <a:spAutoFit/>
          </a:bodyPr>
          <a:lstStyle/>
          <a:p>
            <a:pPr algn="l">
              <a:defRPr sz="1300" i="0">
                <a:solidFill>
                  <a:srgbClr val="666666"/>
                </a:solidFill>
              </a:defRPr>
            </a:pPr>
            <a:r>
              <a:rPr dirty="0"/>
              <a:t>Starts a JSON-RPC server on </a:t>
            </a:r>
            <a:r>
              <a:rPr dirty="0" err="1"/>
              <a:t>stdio</a:t>
            </a:r>
            <a:r>
              <a:rPr dirty="0"/>
              <a:t>. The MCP client (your agent) spawns this as a subprocess.</a:t>
            </a:r>
          </a:p>
        </p:txBody>
      </p:sp>
      <p:sp>
        <p:nvSpPr>
          <p:cNvPr id="11" name="TextBox 10"/>
          <p:cNvSpPr txBox="1"/>
          <p:nvPr/>
        </p:nvSpPr>
        <p:spPr>
          <a:xfrm>
            <a:off x="7680960" y="4480560"/>
            <a:ext cx="4114800" cy="365760"/>
          </a:xfrm>
          <a:prstGeom prst="rect">
            <a:avLst/>
          </a:prstGeom>
          <a:noFill/>
        </p:spPr>
        <p:txBody>
          <a:bodyPr wrap="square">
            <a:spAutoFit/>
          </a:bodyPr>
          <a:lstStyle/>
          <a:p>
            <a:pPr algn="l">
              <a:defRPr sz="1500" i="0">
                <a:solidFill>
                  <a:srgbClr val="FFA500"/>
                </a:solidFill>
              </a:defRPr>
            </a:pPr>
            <a:r>
              <a:t>That's it.</a:t>
            </a:r>
          </a:p>
        </p:txBody>
      </p:sp>
      <p:sp>
        <p:nvSpPr>
          <p:cNvPr id="12" name="TextBox 11"/>
          <p:cNvSpPr txBox="1"/>
          <p:nvPr/>
        </p:nvSpPr>
        <p:spPr>
          <a:xfrm>
            <a:off x="7680960" y="4846320"/>
            <a:ext cx="4297680" cy="822960"/>
          </a:xfrm>
          <a:prstGeom prst="rect">
            <a:avLst/>
          </a:prstGeom>
          <a:noFill/>
        </p:spPr>
        <p:txBody>
          <a:bodyPr wrap="square">
            <a:spAutoFit/>
          </a:bodyPr>
          <a:lstStyle/>
          <a:p>
            <a:pPr algn="l">
              <a:defRPr sz="1300" i="0">
                <a:solidFill>
                  <a:srgbClr val="666666"/>
                </a:solidFill>
              </a:defRPr>
            </a:pPr>
            <a:r>
              <a:t>10 lines of Python = one production-shape MCP server.</a:t>
            </a:r>
          </a:p>
        </p:txBody>
      </p:sp>
      <p:sp>
        <p:nvSpPr>
          <p:cNvPr id="13" name="Rectangle 12"/>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21 / 30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7</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Data-Quality MCP server -- you publish your first tool</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Author your OWN MCP server with 4 data-quality tools.</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FastMCP: ~60 lines of Python = a production-shape server.</a:t>
            </a:r>
          </a:p>
          <a:p>
            <a:pPr>
              <a:spcAft>
                <a:spcPts val="200"/>
              </a:spcAft>
              <a:defRPr sz="1500">
                <a:solidFill>
                  <a:srgbClr val="0E1E3F"/>
                </a:solidFill>
              </a:defRPr>
            </a:pPr>
            <a:r>
              <a:t>• Auto-detect the timestamp column -- no hard-coded schema.</a:t>
            </a:r>
          </a:p>
          <a:p>
            <a:pPr>
              <a:spcAft>
                <a:spcPts val="200"/>
              </a:spcAft>
              <a:defRPr sz="1500">
                <a:solidFill>
                  <a:srgbClr val="0E1E3F"/>
                </a:solidFill>
              </a:defRPr>
            </a:pPr>
            <a:r>
              <a:t>• Run standalone first (Python process), THEN plug into mcp.json.</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 student/mcp_servers/dq_server.py</a:t>
            </a:r>
          </a:p>
          <a:p>
            <a:pPr>
              <a:spcAft>
                <a:spcPts val="200"/>
              </a:spcAft>
              <a:defRPr sz="1500">
                <a:solidFill>
                  <a:srgbClr val="0E1E3F"/>
                </a:solidFill>
              </a:defRPr>
            </a:pPr>
            <a:r>
              <a:t>• student/app/config/mcp.json -- add 2nd entry: datapilot-dq</a:t>
            </a:r>
          </a:p>
          <a:p>
            <a:pPr>
              <a:spcAft>
                <a:spcPts val="200"/>
              </a:spcAft>
              <a:defRPr sz="1500">
                <a:solidFill>
                  <a:srgbClr val="0E1E3F"/>
                </a:solidFill>
              </a:defRPr>
            </a:pPr>
            <a:r>
              <a:t>• student/app/chat_agent.py -- whitelist the new tools</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"is the orders data fresh?" -&gt; agent calls check_freshness -&gt; STALE + hours-ago.</a:t>
            </a:r>
          </a:p>
        </p:txBody>
      </p:sp>
      <p:sp>
        <p:nvSpPr>
          <p:cNvPr id="13" name="Rectangle 12"/>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22 / 30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8</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Health snapshot -- proactive DQ</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Use your DQ tools at app load, not only on user demand.</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Same MCP tools, two consumers: the agent (reactive) and a sidebar button (proactive).</a:t>
            </a:r>
          </a:p>
          <a:p>
            <a:pPr>
              <a:spcAft>
                <a:spcPts val="200"/>
              </a:spcAft>
              <a:defRPr sz="1500">
                <a:solidFill>
                  <a:srgbClr val="0E1E3F"/>
                </a:solidFill>
              </a:defRPr>
            </a:pPr>
            <a:r>
              <a:t>• Surfaces stale data BEFORE the analyst asks a misleading question.</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student/app/streamlit_app.py -- sidebar 'Run quick checks' block</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Sidebar shows 4 red / green badges (rows, freshness, ...) on demand.</a:t>
            </a:r>
          </a:p>
        </p:txBody>
      </p:sp>
      <p:sp>
        <p:nvSpPr>
          <p:cNvPr id="13" name="Rectangle 12"/>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23 / 30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PRIMER</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What is RAG?</a:t>
            </a:r>
          </a:p>
        </p:txBody>
      </p:sp>
      <p:sp>
        <p:nvSpPr>
          <p:cNvPr id="5" name="TextBox 4"/>
          <p:cNvSpPr txBox="1"/>
          <p:nvPr/>
        </p:nvSpPr>
        <p:spPr>
          <a:xfrm>
            <a:off x="548640" y="777240"/>
            <a:ext cx="11064240" cy="457200"/>
          </a:xfrm>
          <a:prstGeom prst="rect">
            <a:avLst/>
          </a:prstGeom>
          <a:noFill/>
        </p:spPr>
        <p:txBody>
          <a:bodyPr wrap="none">
            <a:spAutoFit/>
          </a:bodyPr>
          <a:lstStyle/>
          <a:p>
            <a:pPr>
              <a:defRPr sz="1500" i="1">
                <a:solidFill>
                  <a:srgbClr val="666666"/>
                </a:solidFill>
              </a:defRPr>
            </a:pPr>
            <a:r>
              <a:t>How the agent answers "what does VIP mean?" without retraining.</a:t>
            </a:r>
          </a:p>
        </p:txBody>
      </p:sp>
      <p:sp>
        <p:nvSpPr>
          <p:cNvPr id="6" name="Rounded Rectangle 5"/>
          <p:cNvSpPr/>
          <p:nvPr/>
        </p:nvSpPr>
        <p:spPr>
          <a:xfrm>
            <a:off x="548640" y="1920240"/>
            <a:ext cx="2194560" cy="822960"/>
          </a:xfrm>
          <a:prstGeom prst="roundRect">
            <a:avLst/>
          </a:prstGeom>
          <a:solidFill>
            <a:srgbClr val="4C6EF5"/>
          </a:solidFill>
          <a:ln>
            <a:solidFill>
              <a:srgbClr val="4C6EF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docs/*.md</a:t>
            </a:r>
            <a:br/>
            <a:r>
              <a:t>(7 files)</a:t>
            </a:r>
          </a:p>
        </p:txBody>
      </p:sp>
      <p:cxnSp>
        <p:nvCxnSpPr>
          <p:cNvPr id="7" name="Connector 6"/>
          <p:cNvCxnSpPr/>
          <p:nvPr/>
        </p:nvCxnSpPr>
        <p:spPr>
          <a:xfrm>
            <a:off x="2743200" y="2331720"/>
            <a:ext cx="36576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108960" y="1920240"/>
            <a:ext cx="2194560" cy="82296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Embed each</a:t>
            </a:r>
            <a:br/>
            <a:r>
              <a:t>chunk -&gt; vector</a:t>
            </a:r>
          </a:p>
        </p:txBody>
      </p:sp>
      <p:cxnSp>
        <p:nvCxnSpPr>
          <p:cNvPr id="9" name="Connector 8"/>
          <p:cNvCxnSpPr/>
          <p:nvPr/>
        </p:nvCxnSpPr>
        <p:spPr>
          <a:xfrm>
            <a:off x="5303520" y="2331720"/>
            <a:ext cx="36576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669280" y="1920240"/>
            <a:ext cx="2194560" cy="82296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ChromaDB</a:t>
            </a:r>
            <a:br/>
            <a:r>
              <a:t>(vector store)</a:t>
            </a:r>
          </a:p>
        </p:txBody>
      </p:sp>
      <p:sp>
        <p:nvSpPr>
          <p:cNvPr id="11" name="Rounded Rectangle 10"/>
          <p:cNvSpPr/>
          <p:nvPr/>
        </p:nvSpPr>
        <p:spPr>
          <a:xfrm>
            <a:off x="548640" y="3931920"/>
            <a:ext cx="2194560" cy="82296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User query</a:t>
            </a:r>
            <a:br/>
            <a:r>
              <a:t>"VIP?"</a:t>
            </a:r>
          </a:p>
        </p:txBody>
      </p:sp>
      <p:cxnSp>
        <p:nvCxnSpPr>
          <p:cNvPr id="12" name="Connector 11"/>
          <p:cNvCxnSpPr/>
          <p:nvPr/>
        </p:nvCxnSpPr>
        <p:spPr>
          <a:xfrm>
            <a:off x="2743200" y="4343400"/>
            <a:ext cx="36576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108960" y="3931920"/>
            <a:ext cx="2194560" cy="822960"/>
          </a:xfrm>
          <a:prstGeom prst="roundRect">
            <a:avLst/>
          </a:prstGeom>
          <a:solidFill>
            <a:srgbClr val="FFA500"/>
          </a:solidFill>
          <a:ln>
            <a:solidFill>
              <a:srgbClr val="FFA5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Embed</a:t>
            </a:r>
            <a:br/>
            <a:r>
              <a:t>the query</a:t>
            </a:r>
          </a:p>
        </p:txBody>
      </p:sp>
      <p:cxnSp>
        <p:nvCxnSpPr>
          <p:cNvPr id="14" name="Connector 13"/>
          <p:cNvCxnSpPr/>
          <p:nvPr/>
        </p:nvCxnSpPr>
        <p:spPr>
          <a:xfrm>
            <a:off x="5303520" y="4343400"/>
            <a:ext cx="36576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669280" y="3931920"/>
            <a:ext cx="2194560" cy="822960"/>
          </a:xfrm>
          <a:prstGeom prst="roundRect">
            <a:avLst/>
          </a:prstGeom>
          <a:solidFill>
            <a:srgbClr val="00B3A4"/>
          </a:solidFill>
          <a:ln>
            <a:solidFill>
              <a:srgbClr val="00B3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Cosine top-k</a:t>
            </a:r>
            <a:br/>
            <a:r>
              <a:t>from store</a:t>
            </a:r>
          </a:p>
        </p:txBody>
      </p:sp>
      <p:cxnSp>
        <p:nvCxnSpPr>
          <p:cNvPr id="16" name="Connector 15"/>
          <p:cNvCxnSpPr/>
          <p:nvPr/>
        </p:nvCxnSpPr>
        <p:spPr>
          <a:xfrm>
            <a:off x="7863840" y="4343400"/>
            <a:ext cx="548640" cy="0"/>
          </a:xfrm>
          <a:prstGeom prst="line">
            <a:avLst/>
          </a:prstGeom>
          <a:ln w="28575">
            <a:solidFill>
              <a:srgbClr val="666666"/>
            </a:solidFill>
            <a:tailEnd type="triangle" w="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412480" y="3931920"/>
            <a:ext cx="3200400" cy="822960"/>
          </a:xfrm>
          <a:prstGeom prst="roundRect">
            <a:avLst/>
          </a:prstGeom>
          <a:solidFill>
            <a:srgbClr val="4C6EF5"/>
          </a:solidFill>
          <a:ln>
            <a:solidFill>
              <a:srgbClr val="4C6EF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300" b="1">
                <a:solidFill>
                  <a:srgbClr val="FFFFFF"/>
                </a:solidFill>
              </a:defRPr>
            </a:pPr>
            <a:r>
              <a:t>Top-k chunks</a:t>
            </a:r>
            <a:br/>
            <a:r>
              <a:t>back to the LLM</a:t>
            </a:r>
          </a:p>
        </p:txBody>
      </p:sp>
      <p:sp>
        <p:nvSpPr>
          <p:cNvPr id="18" name="TextBox 17"/>
          <p:cNvSpPr txBox="1"/>
          <p:nvPr/>
        </p:nvSpPr>
        <p:spPr>
          <a:xfrm>
            <a:off x="548640" y="5212080"/>
            <a:ext cx="11430000" cy="1280160"/>
          </a:xfrm>
          <a:prstGeom prst="rect">
            <a:avLst/>
          </a:prstGeom>
          <a:noFill/>
        </p:spPr>
        <p:txBody>
          <a:bodyPr wrap="square">
            <a:spAutoFit/>
          </a:bodyPr>
          <a:lstStyle/>
          <a:p>
            <a:pPr algn="ctr">
              <a:defRPr sz="1400" i="1">
                <a:solidFill>
                  <a:srgbClr val="0E1E3F"/>
                </a:solidFill>
              </a:defRPr>
            </a:pPr>
            <a:r>
              <a:t>RAG = Retrieval Augmented Generation. We don't fine-tune the LLM; we</a:t>
            </a:r>
            <a:br/>
            <a:r>
              <a:t>find the most relevant chunks from your docs at query time and hand</a:t>
            </a:r>
            <a:br/>
            <a:r>
              <a:t>them to the LLM as context. Cheap, current, traceable.</a:t>
            </a:r>
          </a:p>
        </p:txBody>
      </p:sp>
      <p:sp>
        <p:nvSpPr>
          <p:cNvPr id="19" name="Rectangle 18"/>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21" name="TextBox 20"/>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24 / 30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9</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RAG MCP server -- a second server, totally different domain</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Publish a second MCP server: semantic search over docs/*.md.</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rPr dirty="0"/>
              <a:t>• Same </a:t>
            </a:r>
            <a:r>
              <a:rPr dirty="0" err="1"/>
              <a:t>FastMCP</a:t>
            </a:r>
            <a:r>
              <a:rPr dirty="0"/>
              <a:t> pattern, totally different shape (vector search vs SQL).</a:t>
            </a:r>
          </a:p>
          <a:p>
            <a:pPr>
              <a:spcAft>
                <a:spcPts val="200"/>
              </a:spcAft>
              <a:defRPr sz="1500">
                <a:solidFill>
                  <a:srgbClr val="0E1E3F"/>
                </a:solidFill>
              </a:defRPr>
            </a:pPr>
            <a:r>
              <a:rPr dirty="0"/>
              <a:t>• </a:t>
            </a:r>
            <a:r>
              <a:rPr dirty="0" err="1"/>
              <a:t>ChromaDB</a:t>
            </a:r>
            <a:r>
              <a:rPr dirty="0"/>
              <a:t> ships with an ONNX embedding model -- no torch, no API key.</a:t>
            </a:r>
          </a:p>
          <a:p>
            <a:pPr>
              <a:spcAft>
                <a:spcPts val="200"/>
              </a:spcAft>
              <a:defRPr sz="1500">
                <a:solidFill>
                  <a:srgbClr val="0E1E3F"/>
                </a:solidFill>
              </a:defRPr>
            </a:pPr>
            <a:r>
              <a:rPr dirty="0"/>
              <a:t>• Index once (~30 sec on first run), query in milliseconds.</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rPr dirty="0"/>
              <a:t>• docs/01-07_*.md (7 short </a:t>
            </a:r>
            <a:r>
              <a:rPr dirty="0" err="1"/>
              <a:t>ShopFlow</a:t>
            </a:r>
            <a:r>
              <a:rPr dirty="0"/>
              <a:t> concept files)</a:t>
            </a:r>
          </a:p>
          <a:p>
            <a:pPr>
              <a:spcAft>
                <a:spcPts val="200"/>
              </a:spcAft>
              <a:defRPr sz="1500">
                <a:solidFill>
                  <a:srgbClr val="0E1E3F"/>
                </a:solidFill>
              </a:defRPr>
            </a:pPr>
            <a:r>
              <a:rPr dirty="0"/>
              <a:t>• student/mcp_servers/build_rag_index.py + rag_server.py</a:t>
            </a:r>
          </a:p>
          <a:p>
            <a:pPr>
              <a:spcAft>
                <a:spcPts val="200"/>
              </a:spcAft>
              <a:defRPr sz="1500">
                <a:solidFill>
                  <a:srgbClr val="0E1E3F"/>
                </a:solidFill>
              </a:defRPr>
            </a:pPr>
            <a:r>
              <a:rPr dirty="0"/>
              <a:t>• Register as 3rd entry in </a:t>
            </a:r>
            <a:r>
              <a:rPr dirty="0" err="1"/>
              <a:t>mcp.json</a:t>
            </a:r>
            <a:r>
              <a:rPr dirty="0"/>
              <a:t>; whitelist </a:t>
            </a:r>
            <a:r>
              <a:rPr dirty="0" err="1"/>
              <a:t>search_docs</a:t>
            </a:r>
            <a:r>
              <a:rPr dirty="0"/>
              <a:t> + </a:t>
            </a:r>
            <a:r>
              <a:rPr dirty="0" err="1"/>
              <a:t>list_docs</a:t>
            </a:r>
            <a:endParaRPr dirty="0"/>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"what does VIP mean?" -&gt; agent calls search_docs -&gt; answer cites the glossary.</a:t>
            </a:r>
          </a:p>
        </p:txBody>
      </p:sp>
      <p:sp>
        <p:nvSpPr>
          <p:cNvPr id="13" name="Rectangle 12"/>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25 / 30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137160"/>
            <a:ext cx="1371600" cy="36576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18288" rIns="45720" bIns="18288" rtlCol="0" anchor="ctr"/>
          <a:lstStyle/>
          <a:p>
            <a:pPr algn="ctr">
              <a:defRPr sz="1100" b="1">
                <a:solidFill>
                  <a:srgbClr val="FFFFFF"/>
                </a:solidFill>
              </a:defRPr>
            </a:pPr>
            <a:r>
              <a:t>MODULE 10</a:t>
            </a:r>
          </a:p>
        </p:txBody>
      </p:sp>
      <p:sp>
        <p:nvSpPr>
          <p:cNvPr id="4" name="TextBox 3"/>
          <p:cNvSpPr txBox="1"/>
          <p:nvPr/>
        </p:nvSpPr>
        <p:spPr>
          <a:xfrm>
            <a:off x="1874519" y="91440"/>
            <a:ext cx="10131552" cy="548640"/>
          </a:xfrm>
          <a:prstGeom prst="rect">
            <a:avLst/>
          </a:prstGeom>
          <a:noFill/>
        </p:spPr>
        <p:txBody>
          <a:bodyPr wrap="none">
            <a:spAutoFit/>
          </a:bodyPr>
          <a:lstStyle/>
          <a:p>
            <a:pPr>
              <a:defRPr sz="2600" b="1">
                <a:solidFill>
                  <a:srgbClr val="FFFFFF"/>
                </a:solidFill>
              </a:defRPr>
            </a:pPr>
            <a:r>
              <a:t>Claude Desktop -- the punchline</a:t>
            </a:r>
          </a:p>
        </p:txBody>
      </p:sp>
      <p:sp>
        <p:nvSpPr>
          <p:cNvPr id="5" name="Rectangle 4"/>
          <p:cNvSpPr/>
          <p:nvPr/>
        </p:nvSpPr>
        <p:spPr>
          <a:xfrm>
            <a:off x="457200" y="960120"/>
            <a:ext cx="1188720" cy="50292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GOAL</a:t>
            </a:r>
          </a:p>
        </p:txBody>
      </p:sp>
      <p:sp>
        <p:nvSpPr>
          <p:cNvPr id="6" name="TextBox 5"/>
          <p:cNvSpPr txBox="1"/>
          <p:nvPr/>
        </p:nvSpPr>
        <p:spPr>
          <a:xfrm>
            <a:off x="1783080" y="932688"/>
            <a:ext cx="10058400" cy="1325880"/>
          </a:xfrm>
          <a:prstGeom prst="rect">
            <a:avLst/>
          </a:prstGeom>
          <a:noFill/>
        </p:spPr>
        <p:txBody>
          <a:bodyPr wrap="square">
            <a:spAutoFit/>
          </a:bodyPr>
          <a:lstStyle/>
          <a:p>
            <a:pPr>
              <a:spcAft>
                <a:spcPts val="200"/>
              </a:spcAft>
              <a:defRPr sz="1500">
                <a:solidFill>
                  <a:srgbClr val="0E1E3F"/>
                </a:solidFill>
              </a:defRPr>
            </a:pPr>
            <a:r>
              <a:t>Same two servers, running inside a completely different agent.</a:t>
            </a:r>
          </a:p>
        </p:txBody>
      </p:sp>
      <p:sp>
        <p:nvSpPr>
          <p:cNvPr id="7" name="Rectangle 6"/>
          <p:cNvSpPr/>
          <p:nvPr/>
        </p:nvSpPr>
        <p:spPr>
          <a:xfrm>
            <a:off x="457200" y="2377440"/>
            <a:ext cx="11887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CONCEPT</a:t>
            </a:r>
          </a:p>
        </p:txBody>
      </p:sp>
      <p:sp>
        <p:nvSpPr>
          <p:cNvPr id="8" name="TextBox 7"/>
          <p:cNvSpPr txBox="1"/>
          <p:nvPr/>
        </p:nvSpPr>
        <p:spPr>
          <a:xfrm>
            <a:off x="1783080" y="2350008"/>
            <a:ext cx="10058400" cy="1325880"/>
          </a:xfrm>
          <a:prstGeom prst="rect">
            <a:avLst/>
          </a:prstGeom>
          <a:noFill/>
        </p:spPr>
        <p:txBody>
          <a:bodyPr wrap="square">
            <a:spAutoFit/>
          </a:bodyPr>
          <a:lstStyle/>
          <a:p>
            <a:pPr>
              <a:spcAft>
                <a:spcPts val="200"/>
              </a:spcAft>
              <a:defRPr sz="1500">
                <a:solidFill>
                  <a:srgbClr val="0E1E3F"/>
                </a:solidFill>
              </a:defRPr>
            </a:pPr>
            <a:r>
              <a:t>• MCP is client-agnostic. Your servers don't care who calls them.</a:t>
            </a:r>
          </a:p>
          <a:p>
            <a:pPr>
              <a:spcAft>
                <a:spcPts val="200"/>
              </a:spcAft>
              <a:defRPr sz="1500">
                <a:solidFill>
                  <a:srgbClr val="0E1E3F"/>
                </a:solidFill>
              </a:defRPr>
            </a:pPr>
            <a:r>
              <a:t>• Two products (Streamlit + Claude), one toolset. THIS is the leverage MCP unlocks.</a:t>
            </a:r>
          </a:p>
        </p:txBody>
      </p:sp>
      <p:sp>
        <p:nvSpPr>
          <p:cNvPr id="9" name="Rectangle 8"/>
          <p:cNvSpPr/>
          <p:nvPr/>
        </p:nvSpPr>
        <p:spPr>
          <a:xfrm>
            <a:off x="457200" y="3794760"/>
            <a:ext cx="1188720" cy="50292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FILES</a:t>
            </a:r>
          </a:p>
        </p:txBody>
      </p:sp>
      <p:sp>
        <p:nvSpPr>
          <p:cNvPr id="10" name="TextBox 9"/>
          <p:cNvSpPr txBox="1"/>
          <p:nvPr/>
        </p:nvSpPr>
        <p:spPr>
          <a:xfrm>
            <a:off x="1783080" y="3767328"/>
            <a:ext cx="10058400" cy="1325880"/>
          </a:xfrm>
          <a:prstGeom prst="rect">
            <a:avLst/>
          </a:prstGeom>
          <a:noFill/>
        </p:spPr>
        <p:txBody>
          <a:bodyPr wrap="square">
            <a:spAutoFit/>
          </a:bodyPr>
          <a:lstStyle/>
          <a:p>
            <a:pPr>
              <a:spcAft>
                <a:spcPts val="200"/>
              </a:spcAft>
              <a:defRPr sz="1500">
                <a:solidFill>
                  <a:srgbClr val="0E1E3F"/>
                </a:solidFill>
              </a:defRPr>
            </a:pPr>
            <a:r>
              <a:t>• claude_desktop_config.example.json -&gt; paste into %APPDATA%/Claude/...</a:t>
            </a:r>
          </a:p>
          <a:p>
            <a:pPr>
              <a:spcAft>
                <a:spcPts val="200"/>
              </a:spcAft>
              <a:defRPr sz="1500">
                <a:solidFill>
                  <a:srgbClr val="0E1E3F"/>
                </a:solidFill>
              </a:defRPr>
            </a:pPr>
            <a:r>
              <a:t>• Restart Claude; both servers appear under the tools icon</a:t>
            </a:r>
          </a:p>
        </p:txBody>
      </p:sp>
      <p:sp>
        <p:nvSpPr>
          <p:cNvPr id="11" name="Rectangle 10"/>
          <p:cNvSpPr/>
          <p:nvPr/>
        </p:nvSpPr>
        <p:spPr>
          <a:xfrm>
            <a:off x="457200" y="5212080"/>
            <a:ext cx="1188720" cy="502920"/>
          </a:xfrm>
          <a:prstGeom prst="rect">
            <a:avLst/>
          </a:prstGeom>
          <a:solidFill>
            <a:srgbClr val="2EA04F"/>
          </a:solidFill>
          <a:ln>
            <a:noFill/>
          </a:ln>
        </p:spPr>
        <p:style>
          <a:lnRef idx="1">
            <a:schemeClr val="accent1"/>
          </a:lnRef>
          <a:fillRef idx="3">
            <a:schemeClr val="accent1"/>
          </a:fillRef>
          <a:effectRef idx="2">
            <a:schemeClr val="accent1"/>
          </a:effectRef>
          <a:fontRef idx="minor">
            <a:schemeClr val="lt1"/>
          </a:fontRef>
        </p:style>
        <p:txBody>
          <a:bodyPr lIns="45720" tIns="36576" rIns="45720" bIns="36576" rtlCol="0" anchor="ctr"/>
          <a:lstStyle/>
          <a:p>
            <a:pPr algn="ctr">
              <a:defRPr sz="1300" b="1">
                <a:solidFill>
                  <a:srgbClr val="FFFFFF"/>
                </a:solidFill>
              </a:defRPr>
            </a:pPr>
            <a:r>
              <a:t>CHECK</a:t>
            </a:r>
          </a:p>
        </p:txBody>
      </p:sp>
      <p:sp>
        <p:nvSpPr>
          <p:cNvPr id="12" name="TextBox 11"/>
          <p:cNvSpPr txBox="1"/>
          <p:nvPr/>
        </p:nvSpPr>
        <p:spPr>
          <a:xfrm>
            <a:off x="1783080" y="5184648"/>
            <a:ext cx="10058400" cy="1325880"/>
          </a:xfrm>
          <a:prstGeom prst="rect">
            <a:avLst/>
          </a:prstGeom>
          <a:noFill/>
        </p:spPr>
        <p:txBody>
          <a:bodyPr wrap="square">
            <a:spAutoFit/>
          </a:bodyPr>
          <a:lstStyle/>
          <a:p>
            <a:pPr>
              <a:spcAft>
                <a:spcPts val="200"/>
              </a:spcAft>
              <a:defRPr sz="1500">
                <a:solidFill>
                  <a:srgbClr val="0E1E3F"/>
                </a:solidFill>
              </a:defRPr>
            </a:pPr>
            <a:r>
              <a:t>One question in Claude ("is orders fresh and what does VIP mean?") uses BOTH your servers.</a:t>
            </a:r>
          </a:p>
        </p:txBody>
      </p:sp>
      <p:sp>
        <p:nvSpPr>
          <p:cNvPr id="13" name="Rectangle 12"/>
          <p:cNvSpPr/>
          <p:nvPr/>
        </p:nvSpPr>
        <p:spPr>
          <a:xfrm>
            <a:off x="0" y="6675120"/>
            <a:ext cx="12188952" cy="182880"/>
          </a:xfrm>
          <a:prstGeom prst="rect">
            <a:avLst/>
          </a:prstGeom>
          <a:solidFill>
            <a:srgbClr val="4C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15" name="TextBox 14"/>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26 / 30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548640"/>
          </a:xfrm>
          <a:prstGeom prst="rect">
            <a:avLst/>
          </a:prstGeom>
          <a:noFill/>
        </p:spPr>
        <p:txBody>
          <a:bodyPr wrap="none">
            <a:spAutoFit/>
          </a:bodyPr>
          <a:lstStyle/>
          <a:p>
            <a:pPr>
              <a:defRPr sz="2800" b="1">
                <a:solidFill>
                  <a:srgbClr val="FFFFFF"/>
                </a:solidFill>
              </a:defRPr>
            </a:pPr>
            <a:r>
              <a:t>Validation and quality</a:t>
            </a:r>
          </a:p>
        </p:txBody>
      </p:sp>
      <p:sp>
        <p:nvSpPr>
          <p:cNvPr id="4" name="TextBox 3"/>
          <p:cNvSpPr txBox="1"/>
          <p:nvPr/>
        </p:nvSpPr>
        <p:spPr>
          <a:xfrm>
            <a:off x="548640" y="914400"/>
            <a:ext cx="10972800" cy="5486400"/>
          </a:xfrm>
          <a:prstGeom prst="rect">
            <a:avLst/>
          </a:prstGeom>
          <a:noFill/>
        </p:spPr>
        <p:txBody>
          <a:bodyPr wrap="square">
            <a:spAutoFit/>
          </a:bodyPr>
          <a:lstStyle/>
          <a:p>
            <a:pPr>
              <a:defRPr sz="2000">
                <a:solidFill>
                  <a:srgbClr val="0E1E3F"/>
                </a:solidFill>
              </a:defRPr>
            </a:pPr>
            <a:r>
              <a:t>• pytest                17 cases, all passing</a:t>
            </a:r>
          </a:p>
          <a:p>
            <a:pPr>
              <a:defRPr sz="2000">
                <a:solidFill>
                  <a:srgbClr val="0E1E3F"/>
                </a:solidFill>
              </a:defRPr>
            </a:pPr>
            <a:r>
              <a:t>• smoke_e2e.py          end-to-end agent harness over 5 representative questions (incl. RAG)</a:t>
            </a:r>
          </a:p>
          <a:p>
            <a:pPr>
              <a:defRPr sz="2000">
                <a:solidFill>
                  <a:srgbClr val="0E1E3F"/>
                </a:solidFill>
              </a:defRPr>
            </a:pPr>
            <a:r>
              <a:t>• Browser walkthrough   chat, charts, guardrail, health snapshot, doc search</a:t>
            </a:r>
          </a:p>
          <a:p>
            <a:pPr>
              <a:defRPr sz="2000">
                <a:solidFill>
                  <a:srgbClr val="0E1E3F"/>
                </a:solidFill>
              </a:defRPr>
            </a:pPr>
            <a:r>
              <a:t>• run.ps1               clean-checkout reproducibility on Windows</a:t>
            </a:r>
          </a:p>
        </p:txBody>
      </p:sp>
      <p:sp>
        <p:nvSpPr>
          <p:cNvPr id="5" name="Rectangle 4"/>
          <p:cNvSpPr/>
          <p:nvPr/>
        </p:nvSpPr>
        <p:spPr>
          <a:xfrm>
            <a:off x="0" y="6675120"/>
            <a:ext cx="12188952" cy="18288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7" name="TextBox 6"/>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27 / 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548640"/>
          </a:xfrm>
          <a:prstGeom prst="rect">
            <a:avLst/>
          </a:prstGeom>
          <a:noFill/>
        </p:spPr>
        <p:txBody>
          <a:bodyPr wrap="none">
            <a:spAutoFit/>
          </a:bodyPr>
          <a:lstStyle/>
          <a:p>
            <a:pPr>
              <a:defRPr sz="2800" b="1">
                <a:solidFill>
                  <a:srgbClr val="FFFFFF"/>
                </a:solidFill>
              </a:defRPr>
            </a:pPr>
            <a:r>
              <a:t>Roadmap and extensions</a:t>
            </a:r>
          </a:p>
        </p:txBody>
      </p:sp>
      <p:sp>
        <p:nvSpPr>
          <p:cNvPr id="4" name="TextBox 3"/>
          <p:cNvSpPr txBox="1"/>
          <p:nvPr/>
        </p:nvSpPr>
        <p:spPr>
          <a:xfrm>
            <a:off x="548640" y="914400"/>
            <a:ext cx="10972800" cy="5486400"/>
          </a:xfrm>
          <a:prstGeom prst="rect">
            <a:avLst/>
          </a:prstGeom>
          <a:noFill/>
        </p:spPr>
        <p:txBody>
          <a:bodyPr wrap="square">
            <a:spAutoFit/>
          </a:bodyPr>
          <a:lstStyle/>
          <a:p>
            <a:pPr>
              <a:defRPr sz="2200" b="1">
                <a:solidFill>
                  <a:srgbClr val="0E1E3F"/>
                </a:solidFill>
              </a:defRPr>
            </a:pPr>
            <a:r>
              <a:t>▸ Additional DQ tools</a:t>
            </a:r>
          </a:p>
          <a:p>
            <a:pPr>
              <a:defRPr sz="1600">
                <a:solidFill>
                  <a:srgbClr val="666666"/>
                </a:solidFill>
              </a:defRPr>
            </a:pPr>
            <a:r>
              <a:t>    top_categories, anomaly_detect, schema_diff</a:t>
            </a:r>
          </a:p>
          <a:p>
            <a:pPr>
              <a:defRPr sz="2200" b="1">
                <a:solidFill>
                  <a:srgbClr val="0E1E3F"/>
                </a:solidFill>
              </a:defRPr>
            </a:pPr>
            <a:r>
              <a:t>▸ Warehouse adapters</a:t>
            </a:r>
          </a:p>
          <a:p>
            <a:pPr>
              <a:defRPr sz="1600">
                <a:solidFill>
                  <a:srgbClr val="666666"/>
                </a:solidFill>
              </a:defRPr>
            </a:pPr>
            <a:r>
              <a:t>    Postgres, Snowflake, BigQuery via existing MCP servers</a:t>
            </a:r>
          </a:p>
          <a:p>
            <a:pPr>
              <a:defRPr sz="2200" b="1">
                <a:solidFill>
                  <a:srgbClr val="0E1E3F"/>
                </a:solidFill>
              </a:defRPr>
            </a:pPr>
            <a:r>
              <a:t>▸ Agentic upgrades</a:t>
            </a:r>
          </a:p>
          <a:p>
            <a:pPr>
              <a:defRPr sz="1600">
                <a:solidFill>
                  <a:srgbClr val="666666"/>
                </a:solidFill>
              </a:defRPr>
            </a:pPr>
            <a:r>
              <a:t>    Pre-flight DQ planner, self-critique loop, specialist sub-agents</a:t>
            </a:r>
          </a:p>
          <a:p>
            <a:pPr>
              <a:defRPr sz="2200" b="1">
                <a:solidFill>
                  <a:srgbClr val="0E1E3F"/>
                </a:solidFill>
              </a:defRPr>
            </a:pPr>
            <a:r>
              <a:t>▸ Governance</a:t>
            </a:r>
          </a:p>
          <a:p>
            <a:pPr>
              <a:defRPr sz="1600">
                <a:solidFill>
                  <a:srgbClr val="666666"/>
                </a:solidFill>
              </a:defRPr>
            </a:pPr>
            <a:r>
              <a:t>    Per-tool audit log, query budget, row-level access rules</a:t>
            </a:r>
          </a:p>
        </p:txBody>
      </p:sp>
      <p:sp>
        <p:nvSpPr>
          <p:cNvPr id="5" name="Rectangle 4"/>
          <p:cNvSpPr/>
          <p:nvPr/>
        </p:nvSpPr>
        <p:spPr>
          <a:xfrm>
            <a:off x="0" y="6675120"/>
            <a:ext cx="12188952" cy="18288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7" name="TextBox 6"/>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28 / 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0"/>
          </a:xfrm>
          <a:prstGeom prst="rect">
            <a:avLst/>
          </a:prstGeom>
          <a:solidFill>
            <a:srgbClr val="0E1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548640"/>
          </a:xfrm>
          <a:prstGeom prst="rect">
            <a:avLst/>
          </a:prstGeom>
          <a:noFill/>
        </p:spPr>
        <p:txBody>
          <a:bodyPr wrap="none">
            <a:spAutoFit/>
          </a:bodyPr>
          <a:lstStyle/>
          <a:p>
            <a:pPr>
              <a:defRPr sz="2800" b="1">
                <a:solidFill>
                  <a:srgbClr val="FFFFFF"/>
                </a:solidFill>
              </a:defRPr>
            </a:pPr>
            <a:r>
              <a:t>Repository layout</a:t>
            </a:r>
          </a:p>
        </p:txBody>
      </p:sp>
      <p:sp>
        <p:nvSpPr>
          <p:cNvPr id="4" name="TextBox 3"/>
          <p:cNvSpPr txBox="1"/>
          <p:nvPr/>
        </p:nvSpPr>
        <p:spPr>
          <a:xfrm>
            <a:off x="548640" y="914400"/>
            <a:ext cx="10972800" cy="5486400"/>
          </a:xfrm>
          <a:prstGeom prst="rect">
            <a:avLst/>
          </a:prstGeom>
          <a:noFill/>
        </p:spPr>
        <p:txBody>
          <a:bodyPr wrap="square">
            <a:spAutoFit/>
          </a:bodyPr>
          <a:lstStyle/>
          <a:p>
            <a:pPr>
              <a:defRPr sz="2000">
                <a:solidFill>
                  <a:srgbClr val="0E1E3F"/>
                </a:solidFill>
              </a:defRPr>
            </a:pPr>
            <a:r>
              <a:t>• solution/   reference implementation (app, 2 in-house MCP servers, agent)</a:t>
            </a:r>
          </a:p>
          <a:p>
            <a:pPr>
              <a:defRPr sz="2000">
                <a:solidFill>
                  <a:srgbClr val="0E1E3F"/>
                </a:solidFill>
              </a:defRPr>
            </a:pPr>
            <a:r>
              <a:t>• student/    progressive build cards (11 modules)</a:t>
            </a:r>
          </a:p>
          <a:p>
            <a:pPr>
              <a:defRPr sz="2000">
                <a:solidFill>
                  <a:srgbClr val="0E1E3F"/>
                </a:solidFill>
              </a:defRPr>
            </a:pPr>
            <a:r>
              <a:t>• docs/       RAG corpus (7 short markdown files)</a:t>
            </a:r>
          </a:p>
          <a:p>
            <a:pPr>
              <a:defRPr sz="2000">
                <a:solidFill>
                  <a:srgbClr val="0E1E3F"/>
                </a:solidFill>
              </a:defRPr>
            </a:pPr>
            <a:r>
              <a:t>• data/       synthetic warehouse generator, SQLite file, Chroma index</a:t>
            </a:r>
          </a:p>
          <a:p>
            <a:pPr>
              <a:defRPr sz="2000">
                <a:solidFill>
                  <a:srgbClr val="0E1E3F"/>
                </a:solidFill>
              </a:defRPr>
            </a:pPr>
            <a:r>
              <a:t>• tests/      pytest suite (17 cases)</a:t>
            </a:r>
          </a:p>
          <a:p>
            <a:pPr>
              <a:defRPr sz="2000">
                <a:solidFill>
                  <a:srgbClr val="0E1E3F"/>
                </a:solidFill>
              </a:defRPr>
            </a:pPr>
            <a:r>
              <a:t>• slides/     this deck and the script that generates it</a:t>
            </a:r>
          </a:p>
          <a:p>
            <a:pPr>
              <a:defRPr sz="2000">
                <a:solidFill>
                  <a:srgbClr val="0E1E3F"/>
                </a:solidFill>
              </a:defRPr>
            </a:pPr>
            <a:r>
              <a:t>• facilitator/ run-of-show, checkpoints, supporting notes</a:t>
            </a:r>
          </a:p>
        </p:txBody>
      </p:sp>
      <p:sp>
        <p:nvSpPr>
          <p:cNvPr id="5" name="Rectangle 4"/>
          <p:cNvSpPr/>
          <p:nvPr/>
        </p:nvSpPr>
        <p:spPr>
          <a:xfrm>
            <a:off x="0" y="6675120"/>
            <a:ext cx="12188952" cy="182880"/>
          </a:xfrm>
          <a:prstGeom prst="rect">
            <a:avLst/>
          </a:prstGeom>
          <a:solidFill>
            <a:srgbClr val="00B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7" name="TextBox 6"/>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29 / 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E1E3F"/>
        </a:solidFill>
        <a:effectLst/>
      </p:bgPr>
    </p:bg>
    <p:spTree>
      <p:nvGrpSpPr>
        <p:cNvPr id="1" name=""/>
        <p:cNvGrpSpPr/>
        <p:nvPr/>
      </p:nvGrpSpPr>
      <p:grpSpPr>
        <a:xfrm>
          <a:off x="0" y="0"/>
          <a:ext cx="0" cy="0"/>
          <a:chOff x="0" y="0"/>
          <a:chExt cx="0" cy="0"/>
        </a:xfrm>
      </p:grpSpPr>
      <p:sp>
        <p:nvSpPr>
          <p:cNvPr id="2" name="TextBox 1"/>
          <p:cNvSpPr txBox="1"/>
          <p:nvPr/>
        </p:nvSpPr>
        <p:spPr>
          <a:xfrm>
            <a:off x="548640" y="2194560"/>
            <a:ext cx="11430000" cy="1828800"/>
          </a:xfrm>
          <a:prstGeom prst="rect">
            <a:avLst/>
          </a:prstGeom>
          <a:noFill/>
        </p:spPr>
        <p:txBody>
          <a:bodyPr wrap="none">
            <a:spAutoFit/>
          </a:bodyPr>
          <a:lstStyle/>
          <a:p>
            <a:pPr>
              <a:defRPr sz="5400" b="1">
                <a:solidFill>
                  <a:srgbClr val="FFFFFF"/>
                </a:solidFill>
              </a:defRPr>
            </a:pPr>
            <a:r>
              <a:t>Thank you</a:t>
            </a:r>
          </a:p>
          <a:p>
            <a:pPr>
              <a:defRPr sz="2200">
                <a:solidFill>
                  <a:srgbClr val="00B3A4"/>
                </a:solidFill>
              </a:defRPr>
            </a:pPr>
            <a:r>
              <a:t>Questions and discussion -- linkedin.com/in/ankita-gulati-de</a:t>
            </a:r>
          </a:p>
        </p:txBody>
      </p:sp>
      <p:sp>
        <p:nvSpPr>
          <p:cNvPr id="3" name="TextBox 2"/>
          <p:cNvSpPr txBox="1"/>
          <p:nvPr/>
        </p:nvSpPr>
        <p:spPr>
          <a:xfrm>
            <a:off x="365760" y="6446520"/>
            <a:ext cx="9601200" cy="228600"/>
          </a:xfrm>
          <a:prstGeom prst="rect">
            <a:avLst/>
          </a:prstGeom>
          <a:noFill/>
        </p:spPr>
        <p:txBody>
          <a:bodyPr wrap="none">
            <a:spAutoFit/>
          </a:bodyPr>
          <a:lstStyle/>
          <a:p>
            <a:pPr>
              <a:defRPr sz="900">
                <a:solidFill>
                  <a:srgbClr val="666666"/>
                </a:solidFill>
              </a:defRPr>
            </a:pPr>
            <a:r>
              <a:t>DataPilot  ·  MCP-native SQL &amp; Data-Quality agent</a:t>
            </a:r>
          </a:p>
        </p:txBody>
      </p:sp>
      <p:sp>
        <p:nvSpPr>
          <p:cNvPr id="4" name="TextBox 3"/>
          <p:cNvSpPr txBox="1"/>
          <p:nvPr/>
        </p:nvSpPr>
        <p:spPr>
          <a:xfrm>
            <a:off x="11247120" y="6446520"/>
            <a:ext cx="731520" cy="228600"/>
          </a:xfrm>
          <a:prstGeom prst="rect">
            <a:avLst/>
          </a:prstGeom>
          <a:noFill/>
        </p:spPr>
        <p:txBody>
          <a:bodyPr wrap="none">
            <a:spAutoFit/>
          </a:bodyPr>
          <a:lstStyle/>
          <a:p>
            <a:pPr algn="r">
              <a:defRPr sz="900">
                <a:solidFill>
                  <a:srgbClr val="666666"/>
                </a:solidFill>
              </a:defRPr>
            </a:pPr>
            <a: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1125</TotalTime>
  <Words>7538</Words>
  <Application>Microsoft Office PowerPoint</Application>
  <PresentationFormat>Custom</PresentationFormat>
  <Paragraphs>369</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Anshu Personal</cp:lastModifiedBy>
  <cp:revision>11</cp:revision>
  <dcterms:created xsi:type="dcterms:W3CDTF">2013-01-27T09:14:00Z</dcterms:created>
  <dcterms:modified xsi:type="dcterms:W3CDTF">2026-07-26T09:23:35Z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717F73C576F54CD0A78F4EB540BBEAD9_12</vt:lpwstr>
  </property>
  <property fmtid="{D5CDD505-2E9C-101B-9397-08002B2CF9AE}" pid="3" name="KSOProductBuildVer">
    <vt:lpwstr>1033-12.1.0.26372</vt:lpwstr>
  </property>
</Properties>
</file>